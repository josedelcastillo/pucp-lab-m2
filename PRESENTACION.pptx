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5c297f8-70ce-aa5c-7678-d55fcc92f724}">
          <p14:sldIdLst>
            <p14:sldId id="256"/>
            <p14:sldId id="257"/>
          </p14:sldIdLst>
        </p14:section>
        <p14:section name="Por qué IaC" id="{e457d481-20e1-e43d-416e-14d813cdad22}">
          <p14:sldIdLst>
            <p14:sldId id="258"/>
            <p14:sldId id="259"/>
          </p14:sldIdLst>
        </p14:section>
        <p14:section name="Tipos y Terraform" id="{75d81d23-f86d-6f81-e077-43d2119a2f4e}">
          <p14:sldIdLst>
            <p14:sldId id="260"/>
            <p14:sldId id="261"/>
          </p14:sldIdLst>
        </p14:section>
        <p14:section name="State" id="{3ee10d3f-9c92-654a-0a89-3cb84015c4ed}">
          <p14:sldIdLst>
            <p14:sldId id="262"/>
            <p14:sldId id="263"/>
            <p14:sldId id="264"/>
          </p14:sldIdLst>
        </p14:section>
        <p14:section name="Decidir y costo" id="{2d84e682-3add-9782-bdbe-9784e57edc30}">
          <p14:sldIdLst>
            <p14:sldId id="265"/>
            <p14:sldId id="266"/>
            <p14:sldId id="267"/>
          </p14:sldIdLst>
        </p14:section>
        <p14:section name="Laboratorio" id="{45689bee-20e7-d497-4862-420008fff02e}">
          <p14:sldIdLst>
            <p14:sldId id="268"/>
            <p14:sldId id="269"/>
          </p14:sldIdLst>
        </p14:section>
        <p14:section name="FinOps y cierre" id="{b41c9245-42de-2c8c-e490-7ec4623e7af2}">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Conectar con el Lab 1: allí el pipeline revisaba el código de la aplicación; hoy la infraestructura también es código y pasa por el mismo proceso: revisión, plan, aprobación.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Pedir que abran ya el Codespace (paso 1 de la guía) porque tarda 2–3 minutos en construirse; así llegan listos al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Preguntar al grupo: “¿Cuántos tienen en su empresa un servidor, una base de datos o una regla de firewall que nadie se atreve a tocar?”. Recoger 2–3 casos. A este modo de trabajo se le llama ClickOps. El problema no es la consola en sí, sino que el conocimiento queda en la cabeza de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Enfatizar el beneficio de negocio, no el técnico: repetibilidad (ambientes iguales de dev a producción), trazabilidad (auditoría, cumplimiento) y velocidad (un ambiente nuevo en minutos). Conectar con el Lab 1: el mismo pull request que protegía la rama main ahora protege la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La columna importante es la última; lleva directo a la lámina del state. En 2023 HashiCorp cambió la licencia de Terraform a BSL y la comunidad creó OpenTofu (Linux Foundation, licencia MPL), compatible con el mismo código; IBM completó la compra de HashiCorp en 2025. Para una empresa que solo usa Terraform internamente la licencia no cambia nada práctico; sí importa a quien ofrece Terraform como servicio a terceros. Preguntar: “¿Alguien usa Ansible o scripts hoy? ¿Qué pasa si los corres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El plan es el corazón: es lo que se revisa en un pull request, igual que un diff de código. Terraform arma un grafo de dependencias: si la función necesita el grupo de logs, crea primero el grupo de logs. El orden en el archivo no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Sin el state Terraform no sabe que aws_lambda_function.web es la función m2-perez-web de esta cuenta. Local vs remoto: en el lab empieza local, en el Codespace; el paso 8 opcional lo mueve a S3 con use_lockfile, que desde Terraform 1.10 hace el bloqueo en el propio S3, sin DynamoDB. Comandos que se ven en el lab: state list, state show. Mencionar que existen import (traer al state algo creado a mano) y moved (renombrar sin recrear), sin entrar en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No adelantar el resultado exacto del paso 7 del lab; solo plantear la pregunta: “¿Qué hace Terraform si mañana borro el archivo?”. Los alumnos lo verán en vivo. Casos reales del grupo: ¿dónde guardan hoy los archivos importantes del equipo de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Pregunta para el grupo: “Son las 2 a. m., producción está caída y la solución es abrir un puerto desde la consola. ¿Está bien?”. Respuesta razonable: sí, y al día siguiente ese cambio entra al código o se revierte; de lo contrario, el siguiente apply lo deshace sin avisar.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El punto clave es la frontera. Terraform crea la máquina; no debería instalar la aplicación ni desplegar cada versión. Un antipatrón común: usar user_data o provisioner para todo. Preguntar: “En tu organización, ¿qué parte de la infraestructura cambia cada semana y qué parte cada año?”. Lo que cambia cada año es candidato ideal para IaC.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Por qué Infracost: es la única de la lista que lee el mismo código que se revisa en el pull request y no necesita credenciales de la nube; por eso cabe en el pipeline del Lab 1. Se evaluó OpenInfraQuote (alternativa sin API key), pero su repositorio fue archivado en julio de 2026. Se usa la CLI v2 (scan, inspect, diff); la v0.10 (breakdown) sigue publicada pero ya no es la principal.
Desglose real del lab (27/10/2026): Lambda $6.17 (10 M visitas, 200 ms, 128 MB), DynamoDB $3.75, logs $2.53, SQS $2.00.
Además del costo, inspect --failing lista recomendaciones FinOps sobre el código del lab (Graviton en Lambda, capacidad reservada y TTL en DynamoDB): se retoman en la lámina 16. Las políticas de etiquetado marcadas como prueba de 14 días son de Infracost Cloud; no son parte del lab.
Distinguir costo fijo (el servidor EC2 se cobra por hora aunque nadie lo visite) de costo por uso (Lambda, DynamoDB, SQS y logs: sin tráfico cuestan casi cero). Para el segundo hay que suponer volúmenes, y esa suposición es una decisión de negocio. La comparación Lambda vs EC2 depende del tráfico: el alumno la explora en el paso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Para la 2, usar el +202 % de la memoria de la lámina anterior como caso. Conectar con la lámina de gates del Lab 1: los mismos criterios de “bloquear o advertir” aplican al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Esto es exactamente lo que no se hace en una empresa: en producción cada persona o pipeline tiene su propia identidad con permisos mínimos. Aquí la convención reemplaza a los permisos, y por eso la regla 1 es de honor. Antes de empezar, que cada uno escriba su alumno en el chat para detectar duplicados. Quienes usen su propio laboratorio de AWS Educate tienen los mismos recursos y comandos.
Por qué serverless: el presupuesto total es de USD 50; con un t3.micro encendido por alumno, 5 alumnos gastarían unos USD 41 al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min. Si alguien está atrasado, que se salte el paso 6 (no cambia nada en AWS) y llegue al 7.
En el paso 7, recorrer en pantalla el resumen del plan sin state y preguntar qué pasaría con apply antes de que lo lean ellos. Respuesta para conducir la discusión (probado en vivo el 27/10/2026): Lambda, DynamoDB y el grupo de logs fallan con “ya existe”, pero SQS adopta la cola existente sin avisar: CreateQueue con el mismo nombre devuelve la cola que ya estaba. El resultado es que dos states administran la misma cola, y un destroy en cualquiera de los dos la borra para el otro.
Antes de cerrar el bloque, ejecutar instructor/barrido.sh en pantalla y mostrar quién todavía tiene recursos vivos; con ./barrido.sh &lt;alumno&gt; --borrar se limpia lo de quien ya se fue.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La nube cambió el modelo de compra. Antes, comprar un servidor pasaba por finanzas; hoy cualquier ingeniero con permisos gasta con un apply. FinOps no es “gastar menos”, es gastar a propósito. La sesión de hoy completa del grupo cuesta centavos porque todo es por uso y casi no hay tráfico. Si el lab hubiera sido con un t3.micro por alumno, 5 servidores encendidos todo el mes serían unos USD 41 ($8.23 × 5, según Infracost): el 82 % del presupuesto del curso, por olvidar un destroy. Preguntar: “¿Y si nadie hubiera ejecutado el paso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No dar porcentajes de ahorro genéricos: mostrar en vivo uno de los infracost diff del paso 6 como ejemplo concreto. Varias filas (Graviton, TTL en DynamoDB, modelo de cobro) son las mismas recomendaciones que infracost inspect --failing dio en el paso 3 sobre el código del lab: inspect --total-savings estima unos $40 al año.
Caso real de huérfano encontrado al preparar el lab: cuando una Lambda se ejecuta, AWS crea su grupo de logs por su cuenta; si Terraform no lo administra, destroy borra la función y deja los logs, que se siguen cobrando. Por eso el lab declara aws_cloudwatch_log_group con retention_in_days = 1.
Desde febrero de 2024 AWS cobra cada IPv4 pública (USD 0.005 por hora): es un costo pequeño por recurso que sorprende en cuentas con cientos de IPs. Preguntar: “¿Quién en tu organización recibe hoy la factura de la nube y quién la puede reducir? ¿Son la misma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Recordar el paso 9. Nadie se va sin Destroy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JetBrains Mono" pitchFamily="34" charset="0"/>
                <a:ea typeface="JetBrains Mono" pitchFamily="34" charset="-122"/>
                <a:cs typeface="JetBrains Mono" pitchFamily="34" charset="-120"/>
              </a:rPr>
              <a:t>PUCP-LAB-M2 · Infraestructura como Código</a:t>
            </a:r>
            <a:endParaRPr lang="en-US" sz="1000" dirty="0"/>
          </a:p>
        </p:txBody>
      </p:sp>
      <p:sp>
        <p:nvSpPr>
          <p:cNvPr id="3" name="Text 1"/>
          <p:cNvSpPr/>
          <p:nvPr>
            <p:ph idx="101" type="body" hasCustomPrompt="1"/>
          </p:nvPr>
        </p:nvSpPr>
        <p:spPr>
          <a:xfrm>
            <a:off x="548640" y="411480"/>
            <a:ext cx="8229600" cy="320040"/>
          </a:xfrm>
          <a:prstGeom prst="rect">
            <a:avLst/>
          </a:prstGeom>
          <a:noFill/>
          <a:ln/>
        </p:spPr>
        <p:txBody>
          <a:bodyPr wrap="square" rtlCol="0"/>
          <a:lstStyle>
            <a:lvl1pPr indent="0" marL="0">
              <a:buNone/>
              <a:defRPr lang="en-US" sz="1200" b="1" dirty="0">
                <a:solidFill>
                  <a:schemeClr val="accent1"/>
                </a:solidFill>
                <a:latin typeface="JetBrains Mono" pitchFamily="34" charset="0"/>
                <a:ea typeface="JetBrains Mono" pitchFamily="34" charset="-122"/>
                <a:cs typeface="JetBrains Mono" pitchFamily="34" charset="-120"/>
              </a:defRPr>
            </a:lvl1pPr>
          </a:lstStyle>
          <a:p>
            <a:pPr indent="0" marL="0">
              <a:buNone/>
            </a:pPr>
            <a:endParaRPr lang="en-US" sz="1200" dirty="0"/>
          </a:p>
        </p:txBody>
      </p:sp>
      <p:sp>
        <p:nvSpPr>
          <p:cNvPr id="4" name="Text 1"/>
          <p:cNvSpPr/>
          <p:nvPr>
            <p:ph idx="102" type="title" hasCustomPrompt="1"/>
          </p:nvPr>
        </p:nvSpPr>
        <p:spPr>
          <a:xfrm>
            <a:off x="548640" y="777240"/>
            <a:ext cx="11094415"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_OSCURO">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JetBrains Mono" pitchFamily="34" charset="0"/>
                <a:ea typeface="JetBrains Mono" pitchFamily="34" charset="-122"/>
                <a:cs typeface="JetBrains Mono" pitchFamily="34" charset="-120"/>
              </a:rPr>
              <a:t>PUCP-LAB-M2 · Infraestructura como Código</a:t>
            </a:r>
            <a:endParaRPr lang="en-US" sz="1000" dirty="0"/>
          </a:p>
        </p:txBody>
      </p:sp>
      <p:sp>
        <p:nvSpPr>
          <p:cNvPr id="3" name="Text 1"/>
          <p:cNvSpPr/>
          <p:nvPr>
            <p:ph idx="101" type="body" hasCustomPrompt="1"/>
          </p:nvPr>
        </p:nvSpPr>
        <p:spPr>
          <a:xfrm>
            <a:off x="548640" y="411480"/>
            <a:ext cx="8229600" cy="320040"/>
          </a:xfrm>
          <a:prstGeom prst="rect">
            <a:avLst/>
          </a:prstGeom>
          <a:noFill/>
          <a:ln/>
        </p:spPr>
        <p:txBody>
          <a:bodyPr wrap="square" rtlCol="0"/>
          <a:lstStyle>
            <a:lvl1pPr indent="0" marL="0">
              <a:buNone/>
              <a:defRPr lang="en-US" sz="1200" b="1" dirty="0">
                <a:solidFill>
                  <a:schemeClr val="accent4"/>
                </a:solidFill>
                <a:latin typeface="JetBrains Mono" pitchFamily="34" charset="0"/>
                <a:ea typeface="JetBrains Mono" pitchFamily="34" charset="-122"/>
                <a:cs typeface="JetBrains Mono" pitchFamily="34" charset="-120"/>
              </a:defRPr>
            </a:lvl1pPr>
          </a:lstStyle>
          <a:p>
            <a:pPr indent="0" marL="0">
              <a:buNone/>
            </a:pPr>
            <a:endParaRPr lang="en-US" sz="1200" dirty="0"/>
          </a:p>
        </p:txBody>
      </p:sp>
      <p:sp>
        <p:nvSpPr>
          <p:cNvPr id="4" name="Text 1"/>
          <p:cNvSpPr/>
          <p:nvPr>
            <p:ph idx="102" type="title" hasCustomPrompt="1"/>
          </p:nvPr>
        </p:nvSpPr>
        <p:spPr>
          <a:xfrm>
            <a:off x="548640" y="777240"/>
            <a:ext cx="11094415"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MPACTO">
    <p:bg>
      <p:bgPr>
        <a:solidFill>
          <a:srgbClr val="B34A1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1"/>
                </a:solidFill>
                <a:latin typeface="JetBrains Mono" pitchFamily="34" charset="0"/>
                <a:ea typeface="JetBrains Mono" pitchFamily="34" charset="-122"/>
                <a:cs typeface="JetBrains Mono" pitchFamily="34" charset="-120"/>
              </a:rPr>
              <a:t>PUCP-LAB-M2 · Infraestructura como Código</a:t>
            </a:r>
            <a:endParaRPr lang="en-US" sz="1000" dirty="0"/>
          </a:p>
        </p:txBody>
      </p:sp>
      <p:sp>
        <p:nvSpPr>
          <p:cNvPr id="3" name="Text 1"/>
          <p:cNvSpPr/>
          <p:nvPr>
            <p:ph idx="101" type="body" hasCustomPrompt="1"/>
          </p:nvPr>
        </p:nvSpPr>
        <p:spPr>
          <a:xfrm>
            <a:off x="548640" y="411480"/>
            <a:ext cx="8229600" cy="320040"/>
          </a:xfrm>
          <a:prstGeom prst="rect">
            <a:avLst/>
          </a:prstGeom>
          <a:noFill/>
          <a:ln/>
        </p:spPr>
        <p:txBody>
          <a:bodyPr wrap="square" rtlCol="0"/>
          <a:lstStyle>
            <a:lvl1pPr indent="0" marL="0">
              <a:buNone/>
              <a:defRPr lang="en-US" sz="1200" b="1" dirty="0">
                <a:solidFill>
                  <a:schemeClr val="bg1"/>
                </a:solidFill>
                <a:latin typeface="JetBrains Mono" pitchFamily="34" charset="0"/>
                <a:ea typeface="JetBrains Mono" pitchFamily="34" charset="-122"/>
                <a:cs typeface="JetBrains Mono" pitchFamily="34" charset="-120"/>
              </a:defRPr>
            </a:lvl1pPr>
          </a:lstStyle>
          <a:p>
            <a:pPr indent="0" marL="0">
              <a:buNone/>
            </a:pPr>
            <a:endParaRPr lang="en-US" sz="1200" dirty="0"/>
          </a:p>
        </p:txBody>
      </p:sp>
      <p:sp>
        <p:nvSpPr>
          <p:cNvPr id="4" name="Text 1"/>
          <p:cNvSpPr/>
          <p:nvPr>
            <p:ph idx="102" type="title" hasCustomPrompt="1"/>
          </p:nvPr>
        </p:nvSpPr>
        <p:spPr>
          <a:xfrm>
            <a:off x="548640" y="1280160"/>
            <a:ext cx="11094415"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latin typeface="JetBrains Mono"/>
                <a:ea typeface="JetBrains Mono"/>
                <a:cs typeface="JetBrains Mon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8229600" cy="365760"/>
          </a:xfrm>
          <a:prstGeom prst="rect">
            <a:avLst/>
          </a:prstGeom>
          <a:noFill/>
          <a:ln/>
        </p:spPr>
        <p:txBody>
          <a:bodyPr wrap="square" rtlCol="0"/>
          <a:lstStyle>
            <a:lvl1pPr indent="0" marL="0">
              <a:buNone/>
              <a:defRPr lang="en-US" sz="1400" b="1" dirty="0">
                <a:solidFill>
                  <a:schemeClr val="accent4"/>
                </a:solidFill>
                <a:latin typeface="JetBrains Mono" pitchFamily="34" charset="0"/>
                <a:ea typeface="JetBrains Mono" pitchFamily="34" charset="-122"/>
                <a:cs typeface="JetBrains Mono" pitchFamily="34" charset="-120"/>
              </a:defRPr>
            </a:lvl1pPr>
          </a:lstStyle>
          <a:p>
            <a:pPr indent="0" marL="0">
              <a:buNone/>
            </a:pPr>
            <a:endParaRPr lang="en-US" sz="1400" dirty="0"/>
          </a:p>
        </p:txBody>
      </p:sp>
      <p:sp>
        <p:nvSpPr>
          <p:cNvPr id="3" name="Text 0"/>
          <p:cNvSpPr/>
          <p:nvPr>
            <p:ph idx="101" type="title" hasCustomPrompt="1"/>
          </p:nvPr>
        </p:nvSpPr>
        <p:spPr>
          <a:xfrm>
            <a:off x="731520" y="1965960"/>
            <a:ext cx="1005840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8229600" cy="365760"/>
          </a:xfrm>
          <a:prstGeom prst="rect">
            <a:avLst/>
          </a:prstGeom>
          <a:noFill/>
          <a:ln/>
        </p:spPr>
        <p:txBody>
          <a:bodyPr wrap="square" lIns="0" tIns="0" rIns="0" bIns="0" rtlCol="0"/>
          <a:lstStyle/>
          <a:p>
            <a:pPr indent="0" marL="0">
              <a:buNone/>
            </a:pPr>
            <a:r>
              <a:rPr lang="en-US" sz="1400" b="1" dirty="0">
                <a:solidFill>
                  <a:schemeClr val="accent4"/>
                </a:solidFill>
                <a:latin typeface="JetBrains Mono" pitchFamily="34" charset="0"/>
                <a:ea typeface="JetBrains Mono" pitchFamily="34" charset="-122"/>
                <a:cs typeface="JetBrains Mono" pitchFamily="34" charset="-120"/>
              </a:rPr>
              <a:t>PUCP · LABORATORIO 2</a:t>
            </a:r>
            <a:endParaRPr lang="en-US" sz="1400" dirty="0"/>
          </a:p>
        </p:txBody>
      </p:sp>
      <p:sp>
        <p:nvSpPr>
          <p:cNvPr id="3" name="Text 0"/>
          <p:cNvSpPr/>
          <p:nvPr>
            <p:ph idx="101" type="title" hasCustomPrompt="1"/>
          </p:nvPr>
        </p:nvSpPr>
        <p:spPr>
          <a:xfrm>
            <a:off x="731520" y="1965960"/>
            <a:ext cx="10058400" cy="1737360"/>
          </a:xfrm>
          <a:prstGeom prst="rect">
            <a:avLst/>
          </a:prstGeom>
          <a:noFill/>
          <a:ln/>
        </p:spPr>
        <p:txBody>
          <a:bodyPr wrap="square" lIns="0" tIns="0" rIns="0" bIns="0" rtlCol="0" anchor="t"/>
          <a:lstStyle/>
          <a:p>
            <a:pPr algn="l" indent="0" marL="0">
              <a:buNone/>
            </a:pPr>
            <a:r>
              <a:rPr lang="en-US" sz="4800" b="1" dirty="0">
                <a:solidFill>
                  <a:schemeClr val="bg1"/>
                </a:solidFill>
              </a:rPr>
              <a:t>Infraestructura como Código con Terraform</a:t>
            </a:r>
            <a:endParaRPr lang="en-US" sz="4800" dirty="0"/>
          </a:p>
        </p:txBody>
      </p:sp>
      <p:sp>
        <p:nvSpPr>
          <p:cNvPr id="4" name="Text 2"/>
          <p:cNvSpPr txBox="1"/>
          <p:nvPr/>
        </p:nvSpPr>
        <p:spPr>
          <a:xfrm>
            <a:off x="731520" y="3794760"/>
            <a:ext cx="9601200" cy="548640"/>
          </a:xfrm>
          <a:prstGeom prst="rect">
            <a:avLst/>
          </a:prstGeom>
          <a:noFill/>
          <a:ln/>
        </p:spPr>
        <p:txBody>
          <a:bodyPr wrap="square" lIns="0" tIns="0" rIns="0" bIns="0" rtlCol="0" anchor="t"/>
          <a:lstStyle/>
          <a:p>
            <a:pPr indent="0" marL="0">
              <a:buNone/>
            </a:pPr>
            <a:r>
              <a:rPr lang="en-US" sz="2200" dirty="0">
                <a:solidFill>
                  <a:schemeClr val="accent5"/>
                </a:solidFill>
              </a:rPr>
              <a:t>Crear, estimar, cambiar y destruir infraestructura desde un repositorio</a:t>
            </a:r>
            <a:endParaRPr lang="en-US" sz="2200" dirty="0"/>
          </a:p>
        </p:txBody>
      </p:sp>
      <p:sp>
        <p:nvSpPr>
          <p:cNvPr id="5" name="pill-duracion"/>
          <p:cNvSpPr/>
          <p:nvPr/>
        </p:nvSpPr>
        <p:spPr>
          <a:xfrm>
            <a:off x="731520" y="4846320"/>
            <a:ext cx="1828800" cy="457200"/>
          </a:xfrm>
          <a:prstGeom prst="roundRect">
            <a:avLst>
              <a:gd name="adj" fmla="val 50000"/>
            </a:avLst>
          </a:prstGeom>
          <a:solidFill>
            <a:srgbClr val="F2A65A"/>
          </a:solidFill>
          <a:ln/>
        </p:spPr>
      </p:sp>
      <p:sp>
        <p:nvSpPr>
          <p:cNvPr id="6" name="Text 4"/>
          <p:cNvSpPr txBox="1"/>
          <p:nvPr/>
        </p:nvSpPr>
        <p:spPr>
          <a:xfrm>
            <a:off x="868680" y="4846320"/>
            <a:ext cx="155448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JetBrains Mono" pitchFamily="34" charset="0"/>
                <a:ea typeface="JetBrains Mono" pitchFamily="34" charset="-122"/>
                <a:cs typeface="JetBrains Mono" pitchFamily="34" charset="-120"/>
              </a:rPr>
              <a:t>2 horas</a:t>
            </a:r>
            <a:endParaRPr lang="en-US" sz="1300" dirty="0"/>
          </a:p>
        </p:txBody>
      </p:sp>
      <p:sp>
        <p:nvSpPr>
          <p:cNvPr id="7" name="pill-repo"/>
          <p:cNvSpPr/>
          <p:nvPr/>
        </p:nvSpPr>
        <p:spPr>
          <a:xfrm>
            <a:off x="2743200" y="4846320"/>
            <a:ext cx="2926080" cy="457200"/>
          </a:xfrm>
          <a:prstGeom prst="roundRect">
            <a:avLst>
              <a:gd name="adj" fmla="val 50000"/>
            </a:avLst>
          </a:prstGeom>
          <a:solidFill>
            <a:srgbClr val="4A5568"/>
          </a:solidFill>
          <a:ln/>
        </p:spPr>
      </p:sp>
      <p:sp>
        <p:nvSpPr>
          <p:cNvPr id="8" name="Text 6"/>
          <p:cNvSpPr txBox="1"/>
          <p:nvPr/>
        </p:nvSpPr>
        <p:spPr>
          <a:xfrm>
            <a:off x="2880360" y="4846320"/>
            <a:ext cx="265176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JetBrains Mono" pitchFamily="34" charset="0"/>
                <a:ea typeface="JetBrains Mono" pitchFamily="34" charset="-122"/>
                <a:cs typeface="JetBrains Mono" pitchFamily="34" charset="-120"/>
              </a:rPr>
              <a:t>PUCP-LAB-M2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AGENDA</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Dos horas: entender, practicar y medir el costo</a:t>
            </a:r>
            <a:endParaRPr lang="en-US" sz="3000" dirty="0"/>
          </a:p>
        </p:txBody>
      </p:sp>
      <p:sp>
        <p:nvSpPr>
          <p:cNvPr id="4" name="agenda-1"/>
          <p:cNvSpPr/>
          <p:nvPr/>
        </p:nvSpPr>
        <p:spPr>
          <a:xfrm>
            <a:off x="548640" y="2103120"/>
            <a:ext cx="2606040" cy="3291840"/>
          </a:xfrm>
          <a:prstGeom prst="roundRect">
            <a:avLst>
              <a:gd name="adj" fmla="val 4211"/>
            </a:avLst>
          </a:prstGeom>
          <a:solidFill>
            <a:schemeClr val="accent6"/>
          </a:solidFill>
          <a:ln/>
          <a:effectLst>
            <a:outerShdw sx="100000" sy="100000" kx="0" ky="0" algn="bl" rotWithShape="0" blurRad="76200" dist="25400" dir="5400000">
              <a:srgbClr val="14213D">
                <a:alpha val="12000"/>
              </a:srgbClr>
            </a:outerShdw>
          </a:effectLst>
        </p:spPr>
      </p:sp>
      <p:sp>
        <p:nvSpPr>
          <p:cNvPr id="5" name="Text 3"/>
          <p:cNvSpPr txBox="1"/>
          <p:nvPr/>
        </p:nvSpPr>
        <p:spPr>
          <a:xfrm>
            <a:off x="822960" y="2377440"/>
            <a:ext cx="2057400" cy="36576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0:00–0:20</a:t>
            </a:r>
            <a:endParaRPr lang="en-US" sz="1500" dirty="0"/>
          </a:p>
        </p:txBody>
      </p:sp>
      <p:sp>
        <p:nvSpPr>
          <p:cNvPr id="6" name="Text 4"/>
          <p:cNvSpPr txBox="1"/>
          <p:nvPr/>
        </p:nvSpPr>
        <p:spPr>
          <a:xfrm>
            <a:off x="822960" y="2926080"/>
            <a:ext cx="2057400" cy="822960"/>
          </a:xfrm>
          <a:prstGeom prst="rect">
            <a:avLst/>
          </a:prstGeom>
          <a:noFill/>
          <a:ln/>
        </p:spPr>
        <p:txBody>
          <a:bodyPr wrap="square" lIns="0" tIns="0" rIns="0" bIns="0" rtlCol="0" anchor="t"/>
          <a:lstStyle/>
          <a:p>
            <a:pPr indent="0" marL="0">
              <a:buNone/>
            </a:pPr>
            <a:r>
              <a:rPr lang="en-US" sz="2200" b="1" dirty="0">
                <a:solidFill>
                  <a:schemeClr val="tx1"/>
                </a:solidFill>
              </a:rPr>
              <a:t>Qué es IaC</a:t>
            </a:r>
            <a:endParaRPr lang="en-US" sz="2200" dirty="0"/>
          </a:p>
        </p:txBody>
      </p:sp>
      <p:sp>
        <p:nvSpPr>
          <p:cNvPr id="7" name="Text 5"/>
          <p:cNvSpPr txBox="1"/>
          <p:nvPr/>
        </p:nvSpPr>
        <p:spPr>
          <a:xfrm>
            <a:off x="822960" y="3886200"/>
            <a:ext cx="2057400" cy="1371600"/>
          </a:xfrm>
          <a:prstGeom prst="rect">
            <a:avLst/>
          </a:prstGeom>
          <a:noFill/>
          <a:ln/>
        </p:spPr>
        <p:txBody>
          <a:bodyPr wrap="square" lIns="0" tIns="0" rIns="0" bIns="0" rtlCol="0" anchor="t"/>
          <a:lstStyle/>
          <a:p>
            <a:pPr indent="0" marL="0">
              <a:buNone/>
            </a:pPr>
            <a:r>
              <a:rPr lang="en-US" sz="1600" dirty="0">
                <a:solidFill>
                  <a:schemeClr val="tx2"/>
                </a:solidFill>
              </a:rPr>
              <a:t>Tipos de herramientas y cómo funciona Terraform</a:t>
            </a:r>
            <a:endParaRPr lang="en-US" sz="1600" dirty="0"/>
          </a:p>
        </p:txBody>
      </p:sp>
      <p:sp>
        <p:nvSpPr>
          <p:cNvPr id="8" name="agenda-2"/>
          <p:cNvSpPr/>
          <p:nvPr/>
        </p:nvSpPr>
        <p:spPr>
          <a:xfrm>
            <a:off x="3355848" y="2103120"/>
            <a:ext cx="2606040" cy="3291840"/>
          </a:xfrm>
          <a:prstGeom prst="roundRect">
            <a:avLst>
              <a:gd name="adj" fmla="val 4211"/>
            </a:avLst>
          </a:prstGeom>
          <a:solidFill>
            <a:schemeClr val="accent6"/>
          </a:solidFill>
          <a:ln/>
          <a:effectLst>
            <a:outerShdw sx="100000" sy="100000" kx="0" ky="0" algn="bl" rotWithShape="0" blurRad="76200" dist="25400" dir="5400000">
              <a:srgbClr val="14213D">
                <a:alpha val="12000"/>
              </a:srgbClr>
            </a:outerShdw>
          </a:effectLst>
        </p:spPr>
      </p:sp>
      <p:sp>
        <p:nvSpPr>
          <p:cNvPr id="9" name="Text 7"/>
          <p:cNvSpPr txBox="1"/>
          <p:nvPr/>
        </p:nvSpPr>
        <p:spPr>
          <a:xfrm>
            <a:off x="3630168" y="2377440"/>
            <a:ext cx="2057400" cy="36576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0:20–0:48</a:t>
            </a:r>
            <a:endParaRPr lang="en-US" sz="1500" dirty="0"/>
          </a:p>
        </p:txBody>
      </p:sp>
      <p:sp>
        <p:nvSpPr>
          <p:cNvPr id="10" name="Text 8"/>
          <p:cNvSpPr txBox="1"/>
          <p:nvPr/>
        </p:nvSpPr>
        <p:spPr>
          <a:xfrm>
            <a:off x="3630168" y="2926080"/>
            <a:ext cx="2057400" cy="822960"/>
          </a:xfrm>
          <a:prstGeom prst="rect">
            <a:avLst/>
          </a:prstGeom>
          <a:noFill/>
          <a:ln/>
        </p:spPr>
        <p:txBody>
          <a:bodyPr wrap="square" lIns="0" tIns="0" rIns="0" bIns="0" rtlCol="0" anchor="t"/>
          <a:lstStyle/>
          <a:p>
            <a:pPr indent="0" marL="0">
              <a:buNone/>
            </a:pPr>
            <a:r>
              <a:rPr lang="en-US" sz="2200" b="1" dirty="0">
                <a:solidFill>
                  <a:schemeClr val="tx1"/>
                </a:solidFill>
              </a:rPr>
              <a:t>State y decisiones</a:t>
            </a:r>
            <a:endParaRPr lang="en-US" sz="2200" dirty="0"/>
          </a:p>
        </p:txBody>
      </p:sp>
      <p:sp>
        <p:nvSpPr>
          <p:cNvPr id="11" name="Text 9"/>
          <p:cNvSpPr txBox="1"/>
          <p:nvPr/>
        </p:nvSpPr>
        <p:spPr>
          <a:xfrm>
            <a:off x="3630168" y="3886200"/>
            <a:ext cx="2057400" cy="1371600"/>
          </a:xfrm>
          <a:prstGeom prst="rect">
            <a:avLst/>
          </a:prstGeom>
          <a:noFill/>
          <a:ln/>
        </p:spPr>
        <p:txBody>
          <a:bodyPr wrap="square" lIns="0" tIns="0" rIns="0" bIns="0" rtlCol="0" anchor="t"/>
          <a:lstStyle/>
          <a:p>
            <a:pPr indent="0" marL="0">
              <a:buNone/>
            </a:pPr>
            <a:r>
              <a:rPr lang="en-US" sz="1600" dirty="0">
                <a:solidFill>
                  <a:schemeClr val="tx2"/>
                </a:solidFill>
              </a:rPr>
              <a:t>El state, cuándo usar Terraform y el costo antes de crear</a:t>
            </a:r>
            <a:endParaRPr lang="en-US" sz="1600" dirty="0"/>
          </a:p>
        </p:txBody>
      </p:sp>
      <p:sp>
        <p:nvSpPr>
          <p:cNvPr id="12" name="agenda-3"/>
          <p:cNvSpPr/>
          <p:nvPr/>
        </p:nvSpPr>
        <p:spPr>
          <a:xfrm>
            <a:off x="6163056" y="2103120"/>
            <a:ext cx="2606040" cy="3291840"/>
          </a:xfrm>
          <a:prstGeom prst="roundRect">
            <a:avLst>
              <a:gd name="adj" fmla="val 4211"/>
            </a:avLst>
          </a:prstGeom>
          <a:solidFill>
            <a:schemeClr val="accent6"/>
          </a:solidFill>
          <a:ln/>
          <a:effectLst>
            <a:outerShdw sx="100000" sy="100000" kx="0" ky="0" algn="bl" rotWithShape="0" blurRad="76200" dist="25400" dir="5400000">
              <a:srgbClr val="14213D">
                <a:alpha val="12000"/>
              </a:srgbClr>
            </a:outerShdw>
          </a:effectLst>
        </p:spPr>
      </p:sp>
      <p:sp>
        <p:nvSpPr>
          <p:cNvPr id="13" name="Text 11"/>
          <p:cNvSpPr txBox="1"/>
          <p:nvPr/>
        </p:nvSpPr>
        <p:spPr>
          <a:xfrm>
            <a:off x="6437376" y="2377440"/>
            <a:ext cx="2057400" cy="365760"/>
          </a:xfrm>
          <a:prstGeom prst="rect">
            <a:avLst/>
          </a:prstGeom>
          <a:noFill/>
          <a:ln/>
        </p:spPr>
        <p:txBody>
          <a:bodyPr wrap="square" lIns="0" tIns="0" rIns="0" bIns="0" rtlCol="0" anchor="t"/>
          <a:lstStyle/>
          <a:p>
            <a:pPr indent="0" marL="0">
              <a:buNone/>
            </a:pPr>
            <a:r>
              <a:rPr lang="en-US" sz="1500" b="1" dirty="0">
                <a:solidFill>
                  <a:schemeClr val="accent2"/>
                </a:solidFill>
                <a:latin typeface="JetBrains Mono" pitchFamily="34" charset="0"/>
                <a:ea typeface="JetBrains Mono" pitchFamily="34" charset="-122"/>
                <a:cs typeface="JetBrains Mono" pitchFamily="34" charset="-120"/>
              </a:rPr>
              <a:t>0:48–1:45</a:t>
            </a:r>
            <a:endParaRPr lang="en-US" sz="1500" dirty="0"/>
          </a:p>
        </p:txBody>
      </p:sp>
      <p:sp>
        <p:nvSpPr>
          <p:cNvPr id="14" name="Text 12"/>
          <p:cNvSpPr txBox="1"/>
          <p:nvPr/>
        </p:nvSpPr>
        <p:spPr>
          <a:xfrm>
            <a:off x="6437376" y="2926080"/>
            <a:ext cx="2057400" cy="822960"/>
          </a:xfrm>
          <a:prstGeom prst="rect">
            <a:avLst/>
          </a:prstGeom>
          <a:noFill/>
          <a:ln/>
        </p:spPr>
        <p:txBody>
          <a:bodyPr wrap="square" lIns="0" tIns="0" rIns="0" bIns="0" rtlCol="0" anchor="t"/>
          <a:lstStyle/>
          <a:p>
            <a:pPr indent="0" marL="0">
              <a:buNone/>
            </a:pPr>
            <a:r>
              <a:rPr lang="en-US" sz="2200" b="1" dirty="0">
                <a:solidFill>
                  <a:schemeClr val="tx1"/>
                </a:solidFill>
              </a:rPr>
              <a:t>Laboratorio</a:t>
            </a:r>
            <a:endParaRPr lang="en-US" sz="2200" dirty="0"/>
          </a:p>
        </p:txBody>
      </p:sp>
      <p:sp>
        <p:nvSpPr>
          <p:cNvPr id="15" name="Text 13"/>
          <p:cNvSpPr txBox="1"/>
          <p:nvPr/>
        </p:nvSpPr>
        <p:spPr>
          <a:xfrm>
            <a:off x="6437376" y="3886200"/>
            <a:ext cx="2057400" cy="1371600"/>
          </a:xfrm>
          <a:prstGeom prst="rect">
            <a:avLst/>
          </a:prstGeom>
          <a:noFill/>
          <a:ln/>
        </p:spPr>
        <p:txBody>
          <a:bodyPr wrap="square" lIns="0" tIns="0" rIns="0" bIns="0" rtlCol="0" anchor="t"/>
          <a:lstStyle/>
          <a:p>
            <a:pPr indent="0" marL="0">
              <a:buNone/>
            </a:pPr>
            <a:r>
              <a:rPr lang="en-US" sz="1600" dirty="0">
                <a:solidFill>
                  <a:schemeClr val="tx2"/>
                </a:solidFill>
              </a:rPr>
              <a:t>Estimar, crear, modificar, romper el state y destruir</a:t>
            </a:r>
            <a:endParaRPr lang="en-US" sz="1600" dirty="0"/>
          </a:p>
        </p:txBody>
      </p:sp>
      <p:sp>
        <p:nvSpPr>
          <p:cNvPr id="16" name="agenda-4"/>
          <p:cNvSpPr/>
          <p:nvPr/>
        </p:nvSpPr>
        <p:spPr>
          <a:xfrm>
            <a:off x="8970264" y="2103120"/>
            <a:ext cx="2606040" cy="3291840"/>
          </a:xfrm>
          <a:prstGeom prst="roundRect">
            <a:avLst>
              <a:gd name="adj" fmla="val 4211"/>
            </a:avLst>
          </a:prstGeom>
          <a:solidFill>
            <a:schemeClr val="accent6"/>
          </a:solidFill>
          <a:ln/>
          <a:effectLst>
            <a:outerShdw sx="100000" sy="100000" kx="0" ky="0" algn="bl" rotWithShape="0" blurRad="76200" dist="25400" dir="5400000">
              <a:srgbClr val="14213D">
                <a:alpha val="12000"/>
              </a:srgbClr>
            </a:outerShdw>
          </a:effectLst>
        </p:spPr>
      </p:sp>
      <p:sp>
        <p:nvSpPr>
          <p:cNvPr id="17" name="Text 15"/>
          <p:cNvSpPr txBox="1"/>
          <p:nvPr/>
        </p:nvSpPr>
        <p:spPr>
          <a:xfrm>
            <a:off x="9244584" y="2377440"/>
            <a:ext cx="2057400" cy="365760"/>
          </a:xfrm>
          <a:prstGeom prst="rect">
            <a:avLst/>
          </a:prstGeom>
          <a:noFill/>
          <a:ln/>
        </p:spPr>
        <p:txBody>
          <a:bodyPr wrap="square" lIns="0" tIns="0" rIns="0" bIns="0" rtlCol="0" anchor="t"/>
          <a:lstStyle/>
          <a:p>
            <a:pPr indent="0" marL="0">
              <a:buNone/>
            </a:pPr>
            <a:r>
              <a:rPr lang="en-US" sz="1500" b="1" dirty="0">
                <a:solidFill>
                  <a:schemeClr val="accent3"/>
                </a:solidFill>
                <a:latin typeface="JetBrains Mono" pitchFamily="34" charset="0"/>
                <a:ea typeface="JetBrains Mono" pitchFamily="34" charset="-122"/>
                <a:cs typeface="JetBrains Mono" pitchFamily="34" charset="-120"/>
              </a:rPr>
              <a:t>1:45–2:00</a:t>
            </a:r>
            <a:endParaRPr lang="en-US" sz="1500" dirty="0"/>
          </a:p>
        </p:txBody>
      </p:sp>
      <p:sp>
        <p:nvSpPr>
          <p:cNvPr id="18" name="Text 16"/>
          <p:cNvSpPr txBox="1"/>
          <p:nvPr/>
        </p:nvSpPr>
        <p:spPr>
          <a:xfrm>
            <a:off x="9244584" y="2926080"/>
            <a:ext cx="2057400" cy="822960"/>
          </a:xfrm>
          <a:prstGeom prst="rect">
            <a:avLst/>
          </a:prstGeom>
          <a:noFill/>
          <a:ln/>
        </p:spPr>
        <p:txBody>
          <a:bodyPr wrap="square" lIns="0" tIns="0" rIns="0" bIns="0" rtlCol="0" anchor="t"/>
          <a:lstStyle/>
          <a:p>
            <a:pPr indent="0" marL="0">
              <a:buNone/>
            </a:pPr>
            <a:r>
              <a:rPr lang="en-US" sz="2200" b="1" dirty="0">
                <a:solidFill>
                  <a:schemeClr val="tx1"/>
                </a:solidFill>
              </a:rPr>
              <a:t>FinOps y cierre</a:t>
            </a:r>
            <a:endParaRPr lang="en-US" sz="2200" dirty="0"/>
          </a:p>
        </p:txBody>
      </p:sp>
      <p:sp>
        <p:nvSpPr>
          <p:cNvPr id="19" name="Text 17"/>
          <p:cNvSpPr txBox="1"/>
          <p:nvPr/>
        </p:nvSpPr>
        <p:spPr>
          <a:xfrm>
            <a:off x="9244584" y="3886200"/>
            <a:ext cx="2057400" cy="1371600"/>
          </a:xfrm>
          <a:prstGeom prst="rect">
            <a:avLst/>
          </a:prstGeom>
          <a:noFill/>
          <a:ln/>
        </p:spPr>
        <p:txBody>
          <a:bodyPr wrap="square" lIns="0" tIns="0" rIns="0" bIns="0" rtlCol="0" anchor="t"/>
          <a:lstStyle/>
          <a:p>
            <a:pPr indent="0" marL="0">
              <a:buNone/>
            </a:pPr>
            <a:r>
              <a:rPr lang="en-US" sz="1600" dirty="0">
                <a:solidFill>
                  <a:schemeClr val="tx2"/>
                </a:solidFill>
              </a:rPr>
              <a:t>Estrategias para bajar costos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POR QUÉ IAC</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El servidor que nadie sabe cómo se creó</a:t>
            </a:r>
            <a:endParaRPr lang="en-US" sz="3000" dirty="0"/>
          </a:p>
        </p:txBody>
      </p:sp>
      <p:sp>
        <p:nvSpPr>
          <p:cNvPr id="4" name="historia-1"/>
          <p:cNvSpPr/>
          <p:nvPr/>
        </p:nvSpPr>
        <p:spPr>
          <a:xfrm>
            <a:off x="548640" y="1920240"/>
            <a:ext cx="3474720" cy="2834640"/>
          </a:xfrm>
          <a:prstGeom prst="roundRect">
            <a:avLst>
              <a:gd name="adj" fmla="val 3871"/>
            </a:avLst>
          </a:prstGeom>
          <a:solidFill>
            <a:schemeClr val="accent6"/>
          </a:solidFill>
          <a:ln/>
          <a:effectLst>
            <a:outerShdw sx="100000" sy="100000" kx="0" ky="0" algn="bl" rotWithShape="0" blurRad="76200" dist="25400" dir="5400000">
              <a:srgbClr val="14213D">
                <a:alpha val="12000"/>
              </a:srgbClr>
            </a:outerShdw>
          </a:effectLst>
        </p:spPr>
      </p:sp>
      <p:sp>
        <p:nvSpPr>
          <p:cNvPr id="5" name="Text 3"/>
          <p:cNvSpPr txBox="1"/>
          <p:nvPr/>
        </p:nvSpPr>
        <p:spPr>
          <a:xfrm>
            <a:off x="822960" y="2148840"/>
            <a:ext cx="914400" cy="548640"/>
          </a:xfrm>
          <a:prstGeom prst="rect">
            <a:avLst/>
          </a:prstGeom>
          <a:noFill/>
          <a:ln/>
        </p:spPr>
        <p:txBody>
          <a:bodyPr wrap="square" lIns="0" tIns="0" rIns="0" bIns="0" rtlCol="0" anchor="t"/>
          <a:lstStyle/>
          <a:p>
            <a:pPr indent="0" marL="0">
              <a:buNone/>
            </a:pPr>
            <a:r>
              <a:rPr lang="en-US" sz="2800" b="1" dirty="0">
                <a:solidFill>
                  <a:schemeClr val="accent1"/>
                </a:solidFill>
                <a:latin typeface="JetBrains Mono" pitchFamily="34" charset="0"/>
                <a:ea typeface="JetBrains Mono" pitchFamily="34" charset="-122"/>
                <a:cs typeface="JetBrains Mono" pitchFamily="34" charset="-120"/>
              </a:rPr>
              <a:t>01</a:t>
            </a:r>
            <a:endParaRPr lang="en-US" sz="2800" dirty="0"/>
          </a:p>
        </p:txBody>
      </p:sp>
      <p:sp>
        <p:nvSpPr>
          <p:cNvPr id="6" name="Text 4"/>
          <p:cNvSpPr txBox="1"/>
          <p:nvPr/>
        </p:nvSpPr>
        <p:spPr>
          <a:xfrm>
            <a:off x="822960" y="2743200"/>
            <a:ext cx="2926080" cy="320040"/>
          </a:xfrm>
          <a:prstGeom prst="rect">
            <a:avLst/>
          </a:prstGeom>
          <a:noFill/>
          <a:ln/>
        </p:spPr>
        <p:txBody>
          <a:bodyPr wrap="square" lIns="0" tIns="0" rIns="0" bIns="0" rtlCol="0" anchor="t"/>
          <a:lstStyle/>
          <a:p>
            <a:pPr indent="0" marL="0">
              <a:buNone/>
            </a:pPr>
            <a:r>
              <a:rPr lang="en-US" sz="1200" b="1" dirty="0">
                <a:solidFill>
                  <a:schemeClr val="tx2"/>
                </a:solidFill>
                <a:latin typeface="JetBrains Mono" pitchFamily="34" charset="0"/>
                <a:ea typeface="JetBrains Mono" pitchFamily="34" charset="-122"/>
                <a:cs typeface="JetBrains Mono" pitchFamily="34" charset="-120"/>
              </a:rPr>
              <a:t>LUNES</a:t>
            </a:r>
            <a:endParaRPr lang="en-US" sz="1200" dirty="0"/>
          </a:p>
        </p:txBody>
      </p:sp>
      <p:sp>
        <p:nvSpPr>
          <p:cNvPr id="7" name="Text 5"/>
          <p:cNvSpPr txBox="1"/>
          <p:nvPr/>
        </p:nvSpPr>
        <p:spPr>
          <a:xfrm>
            <a:off x="822960" y="3154680"/>
            <a:ext cx="2926080" cy="14630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Alguien crea un servidor desde la consola web.</a:t>
            </a:r>
            <a:endParaRPr lang="en-US" sz="1700" dirty="0"/>
          </a:p>
          <a:p>
            <a:pPr indent="0" marL="0">
              <a:spcAft>
                <a:spcPts val="600"/>
              </a:spcAft>
              <a:buNone/>
            </a:pPr>
            <a:r>
              <a:rPr lang="en-US" sz="1700" b="1" dirty="0">
                <a:solidFill>
                  <a:schemeClr val="tx1"/>
                </a:solidFill>
              </a:rPr>
              <a:t>Funciona.</a:t>
            </a:r>
            <a:endParaRPr lang="en-US" sz="1700" dirty="0"/>
          </a:p>
        </p:txBody>
      </p:sp>
      <p:sp>
        <p:nvSpPr>
          <p:cNvPr id="8" name="Text 6"/>
          <p:cNvSpPr txBox="1"/>
          <p:nvPr/>
        </p:nvSpPr>
        <p:spPr>
          <a:xfrm>
            <a:off x="4041648" y="3063240"/>
            <a:ext cx="256032" cy="457200"/>
          </a:xfrm>
          <a:prstGeom prst="rect">
            <a:avLst/>
          </a:prstGeom>
          <a:noFill/>
          <a:ln/>
        </p:spPr>
        <p:txBody>
          <a:bodyPr wrap="square" lIns="0" tIns="0" rIns="0" bIns="0" rtlCol="0" anchor="t"/>
          <a:lstStyle/>
          <a:p>
            <a:pPr algn="ctr" indent="0" marL="0">
              <a:buNone/>
            </a:pPr>
            <a:r>
              <a:rPr lang="en-US" sz="2200" dirty="0">
                <a:solidFill>
                  <a:schemeClr val="accent1"/>
                </a:solidFill>
              </a:rPr>
              <a:t>→</a:t>
            </a:r>
            <a:endParaRPr lang="en-US" sz="2200" dirty="0"/>
          </a:p>
        </p:txBody>
      </p:sp>
      <p:sp>
        <p:nvSpPr>
          <p:cNvPr id="9" name="historia-2"/>
          <p:cNvSpPr/>
          <p:nvPr/>
        </p:nvSpPr>
        <p:spPr>
          <a:xfrm>
            <a:off x="4297680" y="1920240"/>
            <a:ext cx="3474720" cy="2834640"/>
          </a:xfrm>
          <a:prstGeom prst="roundRect">
            <a:avLst>
              <a:gd name="adj" fmla="val 3871"/>
            </a:avLst>
          </a:prstGeom>
          <a:solidFill>
            <a:schemeClr val="accent6"/>
          </a:solidFill>
          <a:ln/>
          <a:effectLst>
            <a:outerShdw sx="100000" sy="100000" kx="0" ky="0" algn="bl" rotWithShape="0" blurRad="76200" dist="25400" dir="5400000">
              <a:srgbClr val="14213D">
                <a:alpha val="12000"/>
              </a:srgbClr>
            </a:outerShdw>
          </a:effectLst>
        </p:spPr>
      </p:sp>
      <p:sp>
        <p:nvSpPr>
          <p:cNvPr id="10" name="Text 8"/>
          <p:cNvSpPr txBox="1"/>
          <p:nvPr/>
        </p:nvSpPr>
        <p:spPr>
          <a:xfrm>
            <a:off x="4572000" y="2148840"/>
            <a:ext cx="914400" cy="548640"/>
          </a:xfrm>
          <a:prstGeom prst="rect">
            <a:avLst/>
          </a:prstGeom>
          <a:noFill/>
          <a:ln/>
        </p:spPr>
        <p:txBody>
          <a:bodyPr wrap="square" lIns="0" tIns="0" rIns="0" bIns="0" rtlCol="0" anchor="t"/>
          <a:lstStyle/>
          <a:p>
            <a:pPr indent="0" marL="0">
              <a:buNone/>
            </a:pPr>
            <a:r>
              <a:rPr lang="en-US" sz="2800" b="1" dirty="0">
                <a:solidFill>
                  <a:schemeClr val="accent1"/>
                </a:solidFill>
                <a:latin typeface="JetBrains Mono" pitchFamily="34" charset="0"/>
                <a:ea typeface="JetBrains Mono" pitchFamily="34" charset="-122"/>
                <a:cs typeface="JetBrains Mono" pitchFamily="34" charset="-120"/>
              </a:rPr>
              <a:t>02</a:t>
            </a:r>
            <a:endParaRPr lang="en-US" sz="2800" dirty="0"/>
          </a:p>
        </p:txBody>
      </p:sp>
      <p:sp>
        <p:nvSpPr>
          <p:cNvPr id="11" name="Text 9"/>
          <p:cNvSpPr txBox="1"/>
          <p:nvPr/>
        </p:nvSpPr>
        <p:spPr>
          <a:xfrm>
            <a:off x="4572000" y="2743200"/>
            <a:ext cx="2926080" cy="320040"/>
          </a:xfrm>
          <a:prstGeom prst="rect">
            <a:avLst/>
          </a:prstGeom>
          <a:noFill/>
          <a:ln/>
        </p:spPr>
        <p:txBody>
          <a:bodyPr wrap="square" lIns="0" tIns="0" rIns="0" bIns="0" rtlCol="0" anchor="t"/>
          <a:lstStyle/>
          <a:p>
            <a:pPr indent="0" marL="0">
              <a:buNone/>
            </a:pPr>
            <a:r>
              <a:rPr lang="en-US" sz="1200" b="1" dirty="0">
                <a:solidFill>
                  <a:schemeClr val="tx2"/>
                </a:solidFill>
                <a:latin typeface="JetBrains Mono" pitchFamily="34" charset="0"/>
                <a:ea typeface="JetBrains Mono" pitchFamily="34" charset="-122"/>
                <a:cs typeface="JetBrains Mono" pitchFamily="34" charset="-120"/>
              </a:rPr>
              <a:t>SEIS MESES DESPUÉS</a:t>
            </a:r>
            <a:endParaRPr lang="en-US" sz="1200" dirty="0"/>
          </a:p>
        </p:txBody>
      </p:sp>
      <p:sp>
        <p:nvSpPr>
          <p:cNvPr id="12" name="Text 10"/>
          <p:cNvSpPr txBox="1"/>
          <p:nvPr/>
        </p:nvSpPr>
        <p:spPr>
          <a:xfrm>
            <a:off x="4572000" y="3154680"/>
            <a:ext cx="2926080" cy="14630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Hay que crear el mismo ambiente para un cliente nuevo.</a:t>
            </a:r>
            <a:endParaRPr lang="en-US" sz="1700" dirty="0"/>
          </a:p>
          <a:p>
            <a:pPr indent="0" marL="0">
              <a:spcAft>
                <a:spcPts val="600"/>
              </a:spcAft>
              <a:buNone/>
            </a:pPr>
            <a:r>
              <a:rPr lang="en-US" sz="1700" b="1" dirty="0">
                <a:solidFill>
                  <a:schemeClr val="tx1"/>
                </a:solidFill>
              </a:rPr>
              <a:t>Nadie recuerda qué casillas se marcaron.</a:t>
            </a:r>
            <a:endParaRPr lang="en-US" sz="1700" dirty="0"/>
          </a:p>
        </p:txBody>
      </p:sp>
      <p:sp>
        <p:nvSpPr>
          <p:cNvPr id="13" name="Text 11"/>
          <p:cNvSpPr txBox="1"/>
          <p:nvPr/>
        </p:nvSpPr>
        <p:spPr>
          <a:xfrm>
            <a:off x="7790688" y="3063240"/>
            <a:ext cx="256032" cy="457200"/>
          </a:xfrm>
          <a:prstGeom prst="rect">
            <a:avLst/>
          </a:prstGeom>
          <a:noFill/>
          <a:ln/>
        </p:spPr>
        <p:txBody>
          <a:bodyPr wrap="square" lIns="0" tIns="0" rIns="0" bIns="0" rtlCol="0" anchor="t"/>
          <a:lstStyle/>
          <a:p>
            <a:pPr algn="ctr" indent="0" marL="0">
              <a:buNone/>
            </a:pPr>
            <a:r>
              <a:rPr lang="en-US" sz="2200" dirty="0">
                <a:solidFill>
                  <a:schemeClr val="accent1"/>
                </a:solidFill>
              </a:rPr>
              <a:t>→</a:t>
            </a:r>
            <a:endParaRPr lang="en-US" sz="2200" dirty="0"/>
          </a:p>
        </p:txBody>
      </p:sp>
      <p:sp>
        <p:nvSpPr>
          <p:cNvPr id="14" name="historia-3"/>
          <p:cNvSpPr/>
          <p:nvPr/>
        </p:nvSpPr>
        <p:spPr>
          <a:xfrm>
            <a:off x="8046720" y="1920240"/>
            <a:ext cx="3474720" cy="2834640"/>
          </a:xfrm>
          <a:prstGeom prst="roundRect">
            <a:avLst>
              <a:gd name="adj" fmla="val 3871"/>
            </a:avLst>
          </a:prstGeom>
          <a:solidFill>
            <a:schemeClr val="accent6"/>
          </a:solidFill>
          <a:ln/>
          <a:effectLst>
            <a:outerShdw sx="100000" sy="100000" kx="0" ky="0" algn="bl" rotWithShape="0" blurRad="76200" dist="25400" dir="5400000">
              <a:srgbClr val="14213D">
                <a:alpha val="12000"/>
              </a:srgbClr>
            </a:outerShdw>
          </a:effectLst>
        </p:spPr>
      </p:sp>
      <p:sp>
        <p:nvSpPr>
          <p:cNvPr id="15" name="Text 13"/>
          <p:cNvSpPr txBox="1"/>
          <p:nvPr/>
        </p:nvSpPr>
        <p:spPr>
          <a:xfrm>
            <a:off x="8321040" y="2148840"/>
            <a:ext cx="914400" cy="548640"/>
          </a:xfrm>
          <a:prstGeom prst="rect">
            <a:avLst/>
          </a:prstGeom>
          <a:noFill/>
          <a:ln/>
        </p:spPr>
        <p:txBody>
          <a:bodyPr wrap="square" lIns="0" tIns="0" rIns="0" bIns="0" rtlCol="0" anchor="t"/>
          <a:lstStyle/>
          <a:p>
            <a:pPr indent="0" marL="0">
              <a:buNone/>
            </a:pPr>
            <a:r>
              <a:rPr lang="en-US" sz="2800" b="1" dirty="0">
                <a:solidFill>
                  <a:schemeClr val="accent1"/>
                </a:solidFill>
                <a:latin typeface="JetBrains Mono" pitchFamily="34" charset="0"/>
                <a:ea typeface="JetBrains Mono" pitchFamily="34" charset="-122"/>
                <a:cs typeface="JetBrains Mono" pitchFamily="34" charset="-120"/>
              </a:rPr>
              <a:t>03</a:t>
            </a:r>
            <a:endParaRPr lang="en-US" sz="2800" dirty="0"/>
          </a:p>
        </p:txBody>
      </p:sp>
      <p:sp>
        <p:nvSpPr>
          <p:cNvPr id="16" name="Text 14"/>
          <p:cNvSpPr txBox="1"/>
          <p:nvPr/>
        </p:nvSpPr>
        <p:spPr>
          <a:xfrm>
            <a:off x="8321040" y="2743200"/>
            <a:ext cx="2926080" cy="320040"/>
          </a:xfrm>
          <a:prstGeom prst="rect">
            <a:avLst/>
          </a:prstGeom>
          <a:noFill/>
          <a:ln/>
        </p:spPr>
        <p:txBody>
          <a:bodyPr wrap="square" lIns="0" tIns="0" rIns="0" bIns="0" rtlCol="0" anchor="t"/>
          <a:lstStyle/>
          <a:p>
            <a:pPr indent="0" marL="0">
              <a:buNone/>
            </a:pPr>
            <a:r>
              <a:rPr lang="en-US" sz="1200" b="1" dirty="0">
                <a:solidFill>
                  <a:schemeClr val="tx2"/>
                </a:solidFill>
                <a:latin typeface="JetBrains Mono" pitchFamily="34" charset="0"/>
                <a:ea typeface="JetBrains Mono" pitchFamily="34" charset="-122"/>
                <a:cs typeface="JetBrains Mono" pitchFamily="34" charset="-120"/>
              </a:rPr>
              <a:t>AUDITORÍA</a:t>
            </a:r>
            <a:endParaRPr lang="en-US" sz="1200" dirty="0"/>
          </a:p>
        </p:txBody>
      </p:sp>
      <p:sp>
        <p:nvSpPr>
          <p:cNvPr id="17" name="Text 15"/>
          <p:cNvSpPr txBox="1"/>
          <p:nvPr/>
        </p:nvSpPr>
        <p:spPr>
          <a:xfrm>
            <a:off x="8321040" y="3154680"/>
            <a:ext cx="2926080" cy="14630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“¿Quién abrió el puerto 22 a internet y cuándo?”</a:t>
            </a:r>
            <a:endParaRPr lang="en-US" sz="1700" dirty="0"/>
          </a:p>
          <a:p>
            <a:pPr indent="0" marL="0">
              <a:spcAft>
                <a:spcPts val="600"/>
              </a:spcAft>
              <a:buNone/>
            </a:pPr>
            <a:r>
              <a:rPr lang="en-US" sz="1700" b="1" dirty="0">
                <a:solidFill>
                  <a:schemeClr val="tx1"/>
                </a:solidFill>
              </a:rPr>
              <a:t>No hay registro.</a:t>
            </a:r>
            <a:endParaRPr lang="en-US" sz="1700" dirty="0"/>
          </a:p>
        </p:txBody>
      </p:sp>
      <p:sp>
        <p:nvSpPr>
          <p:cNvPr id="18" name="Text 16"/>
          <p:cNvSpPr txBox="1"/>
          <p:nvPr/>
        </p:nvSpPr>
        <p:spPr>
          <a:xfrm>
            <a:off x="548640" y="5120640"/>
            <a:ext cx="11094415" cy="640080"/>
          </a:xfrm>
          <a:prstGeom prst="rect">
            <a:avLst/>
          </a:prstGeom>
          <a:noFill/>
          <a:ln/>
        </p:spPr>
        <p:txBody>
          <a:bodyPr wrap="square" lIns="0" tIns="0" rIns="0" bIns="0" rtlCol="0" anchor="t"/>
          <a:lstStyle/>
          <a:p>
            <a:pPr indent="0" marL="0">
              <a:buNone/>
            </a:pPr>
            <a:r>
              <a:rPr lang="en-US" sz="2400" b="1" dirty="0">
                <a:solidFill>
                  <a:schemeClr val="accent1"/>
                </a:solidFill>
              </a:rPr>
              <a:t>Lo que se hace con clics no se revisa, no se repite y no se audita</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POR QUÉ IAC</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La infraestructura se describe en archivos versionados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3291840"/>
                <a:gridCol w="3904488"/>
                <a:gridCol w="3895344"/>
              </a:tblGrid>
              <a:tr h="566928">
                <a:tc>
                  <a:txBody>
                    <a:bodyPr/>
                    <a:lstStyle/>
                    <a:p>
                      <a:pPr indent="0" marL="0">
                        <a:buNone/>
                      </a:pPr>
                      <a:r>
                        <a:rPr lang="en-US" sz="1700" b="1" dirty="0">
                          <a:solidFill>
                            <a:schemeClr val="tx1"/>
                          </a:solidFill>
                        </a:rPr>
                        <a:t> </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7F6F2"/>
                    </a:solidFill>
                  </a:tcPr>
                </a:tc>
                <a:tc>
                  <a:txBody>
                    <a:bodyPr/>
                    <a:lstStyle/>
                    <a:p>
                      <a:pPr indent="0" marL="0">
                        <a:buNone/>
                      </a:pPr>
                      <a:r>
                        <a:rPr lang="en-US" sz="1700" b="1" dirty="0">
                          <a:solidFill>
                            <a:schemeClr val="bg1"/>
                          </a:solidFill>
                        </a:rPr>
                        <a:t>Con clics</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B34A12"/>
                    </a:solidFill>
                  </a:tcPr>
                </a:tc>
                <a:tc>
                  <a:txBody>
                    <a:bodyPr/>
                    <a:lstStyle/>
                    <a:p>
                      <a:pPr indent="0" marL="0">
                        <a:buNone/>
                      </a:pPr>
                      <a:r>
                        <a:rPr lang="en-US" sz="1700" b="1" dirty="0">
                          <a:solidFill>
                            <a:schemeClr val="bg1"/>
                          </a:solidFill>
                        </a:rPr>
                        <a:t>Con código</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2D6CDF"/>
                    </a:solidFill>
                  </a:tcPr>
                </a:tc>
              </a:tr>
              <a:tr h="566928">
                <a:tc>
                  <a:txBody>
                    <a:bodyPr/>
                    <a:lstStyle/>
                    <a:p>
                      <a:pPr indent="0" marL="0">
                        <a:buNone/>
                      </a:pPr>
                      <a:r>
                        <a:rPr lang="en-US" sz="1700" b="1" dirty="0">
                          <a:solidFill>
                            <a:schemeClr val="tx1"/>
                          </a:solidFill>
                        </a:rPr>
                        <a:t>Repetir un ambiente</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Rehacer de memoria</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Ejecutar el mismo archivo</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700" b="1" dirty="0">
                          <a:solidFill>
                            <a:schemeClr val="tx1"/>
                          </a:solidFill>
                        </a:rPr>
                        <a:t>Revisar un cambio</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Imposible antes de hacerlo</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Pull request con diff y plan</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700" b="1" dirty="0">
                          <a:solidFill>
                            <a:schemeClr val="tx1"/>
                          </a:solidFill>
                        </a:rPr>
                        <a:t>Saber quién cambió qué</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Logs dispersos, si existen</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Historial de git</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700" b="1" dirty="0">
                          <a:solidFill>
                            <a:schemeClr val="tx1"/>
                          </a:solidFill>
                        </a:rPr>
                        <a:t>Deshacer</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A mano</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700" dirty="0">
                          <a:solidFill>
                            <a:schemeClr val="tx1"/>
                          </a:solidFill>
                        </a:rPr>
                        <a:t>Revertir el commit y aplicar</a:t>
                      </a:r>
                      <a:endParaRPr lang="en-US" sz="17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5" name="pie-fuente-verdad"/>
          <p:cNvSpPr/>
          <p:nvPr/>
        </p:nvSpPr>
        <p:spPr>
          <a:xfrm>
            <a:off x="548640" y="5074920"/>
            <a:ext cx="11094415" cy="868680"/>
          </a:xfrm>
          <a:prstGeom prst="roundRect">
            <a:avLst>
              <a:gd name="adj" fmla="val 12632"/>
            </a:avLst>
          </a:prstGeom>
          <a:solidFill>
            <a:srgbClr val="14213D"/>
          </a:solidFill>
          <a:ln/>
          <a:effectLst>
            <a:outerShdw sx="100000" sy="100000" kx="0" ky="0" algn="bl" rotWithShape="0" blurRad="76200" dist="25400" dir="5400000">
              <a:srgbClr val="14213D">
                <a:alpha val="12000"/>
              </a:srgbClr>
            </a:outerShdw>
          </a:effectLst>
        </p:spPr>
      </p:sp>
      <p:sp>
        <p:nvSpPr>
          <p:cNvPr id="6" name="Text 3"/>
          <p:cNvSpPr txBox="1"/>
          <p:nvPr/>
        </p:nvSpPr>
        <p:spPr>
          <a:xfrm>
            <a:off x="914400" y="5074920"/>
            <a:ext cx="10362895" cy="868680"/>
          </a:xfrm>
          <a:prstGeom prst="rect">
            <a:avLst/>
          </a:prstGeom>
          <a:noFill/>
          <a:ln/>
        </p:spPr>
        <p:txBody>
          <a:bodyPr wrap="square" lIns="0" tIns="0" rIns="0" bIns="0" rtlCol="0" anchor="ctr"/>
          <a:lstStyle/>
          <a:p>
            <a:pPr indent="0" marL="0">
              <a:buNone/>
            </a:pPr>
            <a:r>
              <a:rPr lang="en-US" sz="2100" b="1" dirty="0">
                <a:solidFill>
                  <a:schemeClr val="bg1"/>
                </a:solidFill>
              </a:rPr>
              <a:t>El repositorio pasa a ser la fuente de verdad de la infraestructura</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TIPOS DE IAC</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No toda la IaC es igual</a:t>
            </a:r>
            <a:endParaRPr lang="en-US" sz="3000" dirty="0"/>
          </a:p>
        </p:txBody>
      </p:sp>
      <p:sp>
        <p:nvSpPr>
          <p:cNvPr id="4" name="eje-1"/>
          <p:cNvSpPr/>
          <p:nvPr/>
        </p:nvSpPr>
        <p:spPr>
          <a:xfrm>
            <a:off x="548640" y="1783080"/>
            <a:ext cx="5449824" cy="1417320"/>
          </a:xfrm>
          <a:prstGeom prst="roundRect">
            <a:avLst>
              <a:gd name="adj" fmla="val 7742"/>
            </a:avLst>
          </a:prstGeom>
          <a:solidFill>
            <a:schemeClr val="accent6"/>
          </a:solidFill>
          <a:ln/>
          <a:effectLst>
            <a:outerShdw sx="100000" sy="100000" kx="0" ky="0" algn="bl" rotWithShape="0" blurRad="76200" dist="25400" dir="5400000">
              <a:srgbClr val="14213D">
                <a:alpha val="12000"/>
              </a:srgbClr>
            </a:outerShdw>
          </a:effectLst>
        </p:spPr>
      </p:sp>
      <p:sp>
        <p:nvSpPr>
          <p:cNvPr id="5" name="Text 3"/>
          <p:cNvSpPr txBox="1"/>
          <p:nvPr/>
        </p:nvSpPr>
        <p:spPr>
          <a:xfrm>
            <a:off x="822960" y="1901952"/>
            <a:ext cx="4901184" cy="365760"/>
          </a:xfrm>
          <a:prstGeom prst="rect">
            <a:avLst/>
          </a:prstGeom>
          <a:noFill/>
          <a:ln/>
        </p:spPr>
        <p:txBody>
          <a:bodyPr wrap="square" lIns="0" tIns="0" rIns="0" bIns="0" rtlCol="0" anchor="t"/>
          <a:lstStyle/>
          <a:p>
            <a:pPr indent="0" marL="0">
              <a:buNone/>
            </a:pPr>
            <a:r>
              <a:rPr lang="en-US" sz="1700" b="1" dirty="0">
                <a:solidFill>
                  <a:schemeClr val="accent2"/>
                </a:solidFill>
              </a:rPr>
              <a:t>Declarativo vs imperativo</a:t>
            </a:r>
            <a:endParaRPr lang="en-US" sz="1700" dirty="0"/>
          </a:p>
        </p:txBody>
      </p:sp>
      <p:sp>
        <p:nvSpPr>
          <p:cNvPr id="6" name="Text 4"/>
          <p:cNvSpPr txBox="1"/>
          <p:nvPr/>
        </p:nvSpPr>
        <p:spPr>
          <a:xfrm>
            <a:off x="822960" y="2286000"/>
            <a:ext cx="4901184" cy="868680"/>
          </a:xfrm>
          <a:prstGeom prst="rect">
            <a:avLst/>
          </a:prstGeom>
          <a:noFill/>
          <a:ln/>
        </p:spPr>
        <p:txBody>
          <a:bodyPr wrap="square" lIns="0" tIns="0" rIns="0" bIns="0" rtlCol="0" anchor="t"/>
          <a:lstStyle/>
          <a:p>
            <a:pPr indent="0" marL="0">
              <a:buNone/>
            </a:pPr>
            <a:r>
              <a:rPr lang="en-US" sz="1300" dirty="0">
                <a:solidFill>
                  <a:schemeClr val="tx1"/>
                </a:solidFill>
              </a:rPr>
              <a:t>Declarativo: describes el resultado (“quiero 3 servidores”). Imperativo: escribes los pasos. Si ya hay 3, el declarativo no hace nada; el imperativo crea 3 más.</a:t>
            </a:r>
            <a:endParaRPr lang="en-US" sz="1300" dirty="0"/>
          </a:p>
        </p:txBody>
      </p:sp>
      <p:sp>
        <p:nvSpPr>
          <p:cNvPr id="7" name="eje-2"/>
          <p:cNvSpPr/>
          <p:nvPr/>
        </p:nvSpPr>
        <p:spPr>
          <a:xfrm>
            <a:off x="6190488" y="1783080"/>
            <a:ext cx="5449824" cy="1417320"/>
          </a:xfrm>
          <a:prstGeom prst="roundRect">
            <a:avLst>
              <a:gd name="adj" fmla="val 7742"/>
            </a:avLst>
          </a:prstGeom>
          <a:solidFill>
            <a:schemeClr val="accent6"/>
          </a:solidFill>
          <a:ln/>
          <a:effectLst>
            <a:outerShdw sx="100000" sy="100000" kx="0" ky="0" algn="bl" rotWithShape="0" blurRad="76200" dist="25400" dir="5400000">
              <a:srgbClr val="14213D">
                <a:alpha val="12000"/>
              </a:srgbClr>
            </a:outerShdw>
          </a:effectLst>
        </p:spPr>
      </p:sp>
      <p:sp>
        <p:nvSpPr>
          <p:cNvPr id="8" name="Text 6"/>
          <p:cNvSpPr txBox="1"/>
          <p:nvPr/>
        </p:nvSpPr>
        <p:spPr>
          <a:xfrm>
            <a:off x="6464808" y="1901952"/>
            <a:ext cx="4901184" cy="365760"/>
          </a:xfrm>
          <a:prstGeom prst="rect">
            <a:avLst/>
          </a:prstGeom>
          <a:noFill/>
          <a:ln/>
        </p:spPr>
        <p:txBody>
          <a:bodyPr wrap="square" lIns="0" tIns="0" rIns="0" bIns="0" rtlCol="0" anchor="t"/>
          <a:lstStyle/>
          <a:p>
            <a:pPr indent="0" marL="0">
              <a:buNone/>
            </a:pPr>
            <a:r>
              <a:rPr lang="en-US" sz="1700" b="1" dirty="0">
                <a:solidFill>
                  <a:schemeClr val="accent2"/>
                </a:solidFill>
              </a:rPr>
              <a:t>Aprovisionar vs configurar</a:t>
            </a:r>
            <a:endParaRPr lang="en-US" sz="1700" dirty="0"/>
          </a:p>
        </p:txBody>
      </p:sp>
      <p:sp>
        <p:nvSpPr>
          <p:cNvPr id="9" name="Text 7"/>
          <p:cNvSpPr txBox="1"/>
          <p:nvPr/>
        </p:nvSpPr>
        <p:spPr>
          <a:xfrm>
            <a:off x="6464808" y="2286000"/>
            <a:ext cx="4901184" cy="868680"/>
          </a:xfrm>
          <a:prstGeom prst="rect">
            <a:avLst/>
          </a:prstGeom>
          <a:noFill/>
          <a:ln/>
        </p:spPr>
        <p:txBody>
          <a:bodyPr wrap="square" lIns="0" tIns="0" rIns="0" bIns="0" rtlCol="0" anchor="t"/>
          <a:lstStyle/>
          <a:p>
            <a:pPr indent="0" marL="0">
              <a:buNone/>
            </a:pPr>
            <a:r>
              <a:rPr lang="en-US" sz="1300" dirty="0">
                <a:solidFill>
                  <a:schemeClr val="tx1"/>
                </a:solidFill>
              </a:rPr>
              <a:t>Aprovisionar: crear la infraestructura (red, máquinas, bases de datos). Configurar: instalar y ajustar el software dentro de lo ya creado.</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2514600"/>
                <a:gridCol w="2514600"/>
                <a:gridCol w="2103120"/>
                <a:gridCol w="1737360"/>
                <a:gridCol w="2221992"/>
              </a:tblGrid>
              <a:tr h="384048">
                <a:tc>
                  <a:txBody>
                    <a:bodyPr/>
                    <a:lstStyle/>
                    <a:p>
                      <a:pPr indent="0" marL="0">
                        <a:buNone/>
                      </a:pPr>
                      <a:r>
                        <a:rPr lang="en-US" sz="1200" b="1" dirty="0">
                          <a:solidFill>
                            <a:schemeClr val="bg1"/>
                          </a:solidFill>
                        </a:rPr>
                        <a:t>Herramienta</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Estilo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Lenguaje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Alcance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¿Quién guarda el estado?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r>
              <a:tr h="384048">
                <a:tc>
                  <a:txBody>
                    <a:bodyPr/>
                    <a:lstStyle/>
                    <a:p>
                      <a:pPr indent="0" marL="0">
                        <a:buNone/>
                      </a:pPr>
                      <a:r>
                        <a:rPr lang="en-US" sz="1200" b="1" dirty="0">
                          <a:solidFill>
                            <a:schemeClr val="tx1"/>
                          </a:solidFill>
                        </a:rPr>
                        <a:t>Terraform / OpenTofu</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Declarativo, aprovisiona</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HCL</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Multi-nube y SaaS</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accent1"/>
                          </a:solidFill>
                        </a:rPr>
                        <a:t>Archivo de state propio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AWS CloudFormation</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Declarativo, aprovisiona</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YAML / JSON</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Solo AWS</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AWS (stack)</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AWS CDK</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Código que genera CloudFormation</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TypeScript, Python, Java</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Solo AWS</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AWS (stack)</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Pulumi</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Declarativo con lenguaje general</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TypeScript, Python, Go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Multi-nube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Servicio Pulumi o backend propio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Ansible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Procedimental, configura</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YAML</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Servidores, redes</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No guarda estado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Scripts (Bash + AWS CLI)</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Imperativo</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Bash</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Lo que se programe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Nadie</a:t>
                      </a:r>
                      <a:endParaRPr lang="en-US" sz="12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TERRAFORM</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Escribes el estado deseado y Terraform calcula la diferencia</a:t>
            </a:r>
            <a:endParaRPr lang="en-US" sz="3000" dirty="0"/>
          </a:p>
        </p:txBody>
      </p:sp>
      <p:sp>
        <p:nvSpPr>
          <p:cNvPr id="4" name="ciclo-escribir .tf"/>
          <p:cNvSpPr/>
          <p:nvPr/>
        </p:nvSpPr>
        <p:spPr>
          <a:xfrm>
            <a:off x="548640" y="1828800"/>
            <a:ext cx="1920240" cy="1051560"/>
          </a:xfrm>
          <a:prstGeom prst="roundRect">
            <a:avLst>
              <a:gd name="adj" fmla="val 10435"/>
            </a:avLst>
          </a:prstGeom>
          <a:solidFill>
            <a:schemeClr val="accent6"/>
          </a:solidFill>
          <a:ln/>
          <a:effectLst>
            <a:outerShdw sx="100000" sy="100000" kx="0" ky="0" algn="bl" rotWithShape="0" blurRad="76200" dist="25400" dir="5400000">
              <a:srgbClr val="14213D">
                <a:alpha val="12000"/>
              </a:srgbClr>
            </a:outerShdw>
          </a:effectLst>
        </p:spPr>
      </p:sp>
      <p:sp>
        <p:nvSpPr>
          <p:cNvPr id="5" name="Text 3"/>
          <p:cNvSpPr txBox="1"/>
          <p:nvPr/>
        </p:nvSpPr>
        <p:spPr>
          <a:xfrm>
            <a:off x="685800" y="1938528"/>
            <a:ext cx="164592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JetBrains Mono" pitchFamily="34" charset="0"/>
                <a:ea typeface="JetBrains Mono" pitchFamily="34" charset="-122"/>
                <a:cs typeface="JetBrains Mono" pitchFamily="34" charset="-120"/>
              </a:rPr>
              <a:t>escribir .tf</a:t>
            </a:r>
            <a:endParaRPr lang="en-US" sz="1700" dirty="0"/>
          </a:p>
        </p:txBody>
      </p:sp>
      <p:sp>
        <p:nvSpPr>
          <p:cNvPr id="6" name="Text 4"/>
          <p:cNvSpPr txBox="1"/>
          <p:nvPr/>
        </p:nvSpPr>
        <p:spPr>
          <a:xfrm>
            <a:off x="685800" y="2377440"/>
            <a:ext cx="1645920" cy="365760"/>
          </a:xfrm>
          <a:prstGeom prst="rect">
            <a:avLst/>
          </a:prstGeom>
          <a:noFill/>
          <a:ln/>
        </p:spPr>
        <p:txBody>
          <a:bodyPr wrap="square" lIns="0" tIns="0" rIns="0" bIns="0" rtlCol="0" anchor="t"/>
          <a:lstStyle/>
          <a:p>
            <a:pPr algn="ctr" indent="0" marL="0">
              <a:buNone/>
            </a:pPr>
            <a:r>
              <a:rPr lang="en-US" sz="1300" dirty="0">
                <a:solidFill>
                  <a:schemeClr val="tx2"/>
                </a:solidFill>
              </a:rPr>
              <a:t>el estado deseado</a:t>
            </a:r>
            <a:endParaRPr lang="en-US" sz="1300" dirty="0"/>
          </a:p>
        </p:txBody>
      </p:sp>
      <p:sp>
        <p:nvSpPr>
          <p:cNvPr id="7" name="Text 5"/>
          <p:cNvSpPr txBox="1"/>
          <p:nvPr/>
        </p:nvSpPr>
        <p:spPr>
          <a:xfrm>
            <a:off x="2487168" y="2103120"/>
            <a:ext cx="310896" cy="457200"/>
          </a:xfrm>
          <a:prstGeom prst="rect">
            <a:avLst/>
          </a:prstGeom>
          <a:noFill/>
          <a:ln/>
        </p:spPr>
        <p:txBody>
          <a:bodyPr wrap="square" lIns="0" tIns="0" rIns="0" bIns="0" rtlCol="0" anchor="t"/>
          <a:lstStyle/>
          <a:p>
            <a:pPr algn="ctr" indent="0" marL="0">
              <a:buNone/>
            </a:pPr>
            <a:r>
              <a:rPr lang="en-US" sz="2200" dirty="0">
                <a:solidFill>
                  <a:schemeClr val="accent2"/>
                </a:solidFill>
              </a:rPr>
              <a:t>→</a:t>
            </a:r>
            <a:endParaRPr lang="en-US" sz="2200" dirty="0"/>
          </a:p>
        </p:txBody>
      </p:sp>
      <p:sp>
        <p:nvSpPr>
          <p:cNvPr id="8" name="ciclo-init"/>
          <p:cNvSpPr/>
          <p:nvPr/>
        </p:nvSpPr>
        <p:spPr>
          <a:xfrm>
            <a:off x="2816352" y="1828800"/>
            <a:ext cx="1920240" cy="1051560"/>
          </a:xfrm>
          <a:prstGeom prst="roundRect">
            <a:avLst>
              <a:gd name="adj" fmla="val 10435"/>
            </a:avLst>
          </a:prstGeom>
          <a:solidFill>
            <a:schemeClr val="accent6"/>
          </a:solidFill>
          <a:ln/>
          <a:effectLst>
            <a:outerShdw sx="100000" sy="100000" kx="0" ky="0" algn="bl" rotWithShape="0" blurRad="76200" dist="25400" dir="5400000">
              <a:srgbClr val="14213D">
                <a:alpha val="12000"/>
              </a:srgbClr>
            </a:outerShdw>
          </a:effectLst>
        </p:spPr>
      </p:sp>
      <p:sp>
        <p:nvSpPr>
          <p:cNvPr id="9" name="Text 7"/>
          <p:cNvSpPr txBox="1"/>
          <p:nvPr/>
        </p:nvSpPr>
        <p:spPr>
          <a:xfrm>
            <a:off x="2953512" y="1938528"/>
            <a:ext cx="164592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JetBrains Mono" pitchFamily="34" charset="0"/>
                <a:ea typeface="JetBrains Mono" pitchFamily="34" charset="-122"/>
                <a:cs typeface="JetBrains Mono" pitchFamily="34" charset="-120"/>
              </a:rPr>
              <a:t>init</a:t>
            </a:r>
            <a:endParaRPr lang="en-US" sz="1700" dirty="0"/>
          </a:p>
        </p:txBody>
      </p:sp>
      <p:sp>
        <p:nvSpPr>
          <p:cNvPr id="10" name="Text 8"/>
          <p:cNvSpPr txBox="1"/>
          <p:nvPr/>
        </p:nvSpPr>
        <p:spPr>
          <a:xfrm>
            <a:off x="2953512" y="2377440"/>
            <a:ext cx="1645920" cy="365760"/>
          </a:xfrm>
          <a:prstGeom prst="rect">
            <a:avLst/>
          </a:prstGeom>
          <a:noFill/>
          <a:ln/>
        </p:spPr>
        <p:txBody>
          <a:bodyPr wrap="square" lIns="0" tIns="0" rIns="0" bIns="0" rtlCol="0" anchor="t"/>
          <a:lstStyle/>
          <a:p>
            <a:pPr algn="ctr" indent="0" marL="0">
              <a:buNone/>
            </a:pPr>
            <a:r>
              <a:rPr lang="en-US" sz="1300" dirty="0">
                <a:solidFill>
                  <a:schemeClr val="tx2"/>
                </a:solidFill>
              </a:rPr>
              <a:t>descarga providers</a:t>
            </a:r>
            <a:endParaRPr lang="en-US" sz="1300" dirty="0"/>
          </a:p>
        </p:txBody>
      </p:sp>
      <p:sp>
        <p:nvSpPr>
          <p:cNvPr id="11" name="Text 9"/>
          <p:cNvSpPr txBox="1"/>
          <p:nvPr/>
        </p:nvSpPr>
        <p:spPr>
          <a:xfrm>
            <a:off x="4754880" y="2103120"/>
            <a:ext cx="310896" cy="457200"/>
          </a:xfrm>
          <a:prstGeom prst="rect">
            <a:avLst/>
          </a:prstGeom>
          <a:noFill/>
          <a:ln/>
        </p:spPr>
        <p:txBody>
          <a:bodyPr wrap="square" lIns="0" tIns="0" rIns="0" bIns="0" rtlCol="0" anchor="t"/>
          <a:lstStyle/>
          <a:p>
            <a:pPr algn="ctr" indent="0" marL="0">
              <a:buNone/>
            </a:pPr>
            <a:r>
              <a:rPr lang="en-US" sz="2200" dirty="0">
                <a:solidFill>
                  <a:schemeClr val="accent2"/>
                </a:solidFill>
              </a:rPr>
              <a:t>→</a:t>
            </a:r>
            <a:endParaRPr lang="en-US" sz="2200" dirty="0"/>
          </a:p>
        </p:txBody>
      </p:sp>
      <p:sp>
        <p:nvSpPr>
          <p:cNvPr id="12" name="ciclo-plan"/>
          <p:cNvSpPr/>
          <p:nvPr/>
        </p:nvSpPr>
        <p:spPr>
          <a:xfrm>
            <a:off x="5084064" y="1828800"/>
            <a:ext cx="1920240" cy="1051560"/>
          </a:xfrm>
          <a:prstGeom prst="roundRect">
            <a:avLst>
              <a:gd name="adj" fmla="val 10435"/>
            </a:avLst>
          </a:prstGeom>
          <a:solidFill>
            <a:srgbClr val="2D6CDF"/>
          </a:solidFill>
          <a:ln/>
          <a:effectLst>
            <a:outerShdw sx="100000" sy="100000" kx="0" ky="0" algn="bl" rotWithShape="0" blurRad="76200" dist="25400" dir="5400000">
              <a:srgbClr val="14213D">
                <a:alpha val="12000"/>
              </a:srgbClr>
            </a:outerShdw>
          </a:effectLst>
        </p:spPr>
      </p:sp>
      <p:sp>
        <p:nvSpPr>
          <p:cNvPr id="13" name="Text 11"/>
          <p:cNvSpPr txBox="1"/>
          <p:nvPr/>
        </p:nvSpPr>
        <p:spPr>
          <a:xfrm>
            <a:off x="5221224" y="1938528"/>
            <a:ext cx="1645920" cy="411480"/>
          </a:xfrm>
          <a:prstGeom prst="rect">
            <a:avLst/>
          </a:prstGeom>
          <a:noFill/>
          <a:ln/>
        </p:spPr>
        <p:txBody>
          <a:bodyPr wrap="square" lIns="0" tIns="0" rIns="0" bIns="0" rtlCol="0" anchor="t"/>
          <a:lstStyle/>
          <a:p>
            <a:pPr algn="ctr" indent="0" marL="0">
              <a:buNone/>
            </a:pPr>
            <a:r>
              <a:rPr lang="en-US" sz="1700" b="1" dirty="0">
                <a:solidFill>
                  <a:schemeClr val="bg1"/>
                </a:solidFill>
                <a:latin typeface="JetBrains Mono" pitchFamily="34" charset="0"/>
                <a:ea typeface="JetBrains Mono" pitchFamily="34" charset="-122"/>
                <a:cs typeface="JetBrains Mono" pitchFamily="34" charset="-120"/>
              </a:rPr>
              <a:t>plan</a:t>
            </a:r>
            <a:endParaRPr lang="en-US" sz="1700" dirty="0"/>
          </a:p>
        </p:txBody>
      </p:sp>
      <p:sp>
        <p:nvSpPr>
          <p:cNvPr id="14" name="Text 12"/>
          <p:cNvSpPr txBox="1"/>
          <p:nvPr/>
        </p:nvSpPr>
        <p:spPr>
          <a:xfrm>
            <a:off x="5221224" y="2377440"/>
            <a:ext cx="1645920" cy="365760"/>
          </a:xfrm>
          <a:prstGeom prst="rect">
            <a:avLst/>
          </a:prstGeom>
          <a:noFill/>
          <a:ln/>
        </p:spPr>
        <p:txBody>
          <a:bodyPr wrap="square" lIns="0" tIns="0" rIns="0" bIns="0" rtlCol="0" anchor="t"/>
          <a:lstStyle/>
          <a:p>
            <a:pPr algn="ctr" indent="0" marL="0">
              <a:buNone/>
            </a:pPr>
            <a:r>
              <a:rPr lang="en-US" sz="1300" dirty="0">
                <a:solidFill>
                  <a:schemeClr val="bg1"/>
                </a:solidFill>
              </a:rPr>
              <a:t>calcula la diferencia</a:t>
            </a:r>
            <a:endParaRPr lang="en-US" sz="1300" dirty="0"/>
          </a:p>
        </p:txBody>
      </p:sp>
      <p:sp>
        <p:nvSpPr>
          <p:cNvPr id="15" name="Text 13"/>
          <p:cNvSpPr txBox="1"/>
          <p:nvPr/>
        </p:nvSpPr>
        <p:spPr>
          <a:xfrm>
            <a:off x="7022592" y="2103120"/>
            <a:ext cx="310896" cy="457200"/>
          </a:xfrm>
          <a:prstGeom prst="rect">
            <a:avLst/>
          </a:prstGeom>
          <a:noFill/>
          <a:ln/>
        </p:spPr>
        <p:txBody>
          <a:bodyPr wrap="square" lIns="0" tIns="0" rIns="0" bIns="0" rtlCol="0" anchor="t"/>
          <a:lstStyle/>
          <a:p>
            <a:pPr algn="ctr" indent="0" marL="0">
              <a:buNone/>
            </a:pPr>
            <a:r>
              <a:rPr lang="en-US" sz="2200" dirty="0">
                <a:solidFill>
                  <a:schemeClr val="accent2"/>
                </a:solidFill>
              </a:rPr>
              <a:t>→</a:t>
            </a:r>
            <a:endParaRPr lang="en-US" sz="2200" dirty="0"/>
          </a:p>
        </p:txBody>
      </p:sp>
      <p:sp>
        <p:nvSpPr>
          <p:cNvPr id="16" name="ciclo-apply"/>
          <p:cNvSpPr/>
          <p:nvPr/>
        </p:nvSpPr>
        <p:spPr>
          <a:xfrm>
            <a:off x="7351776" y="1828800"/>
            <a:ext cx="1920240" cy="1051560"/>
          </a:xfrm>
          <a:prstGeom prst="roundRect">
            <a:avLst>
              <a:gd name="adj" fmla="val 10435"/>
            </a:avLst>
          </a:prstGeom>
          <a:solidFill>
            <a:schemeClr val="accent6"/>
          </a:solidFill>
          <a:ln/>
          <a:effectLst>
            <a:outerShdw sx="100000" sy="100000" kx="0" ky="0" algn="bl" rotWithShape="0" blurRad="76200" dist="25400" dir="5400000">
              <a:srgbClr val="14213D">
                <a:alpha val="12000"/>
              </a:srgbClr>
            </a:outerShdw>
          </a:effectLst>
        </p:spPr>
      </p:sp>
      <p:sp>
        <p:nvSpPr>
          <p:cNvPr id="17" name="Text 15"/>
          <p:cNvSpPr txBox="1"/>
          <p:nvPr/>
        </p:nvSpPr>
        <p:spPr>
          <a:xfrm>
            <a:off x="7488936" y="1938528"/>
            <a:ext cx="164592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JetBrains Mono" pitchFamily="34" charset="0"/>
                <a:ea typeface="JetBrains Mono" pitchFamily="34" charset="-122"/>
                <a:cs typeface="JetBrains Mono" pitchFamily="34" charset="-120"/>
              </a:rPr>
              <a:t>apply</a:t>
            </a:r>
            <a:endParaRPr lang="en-US" sz="1700" dirty="0"/>
          </a:p>
        </p:txBody>
      </p:sp>
      <p:sp>
        <p:nvSpPr>
          <p:cNvPr id="18" name="Text 16"/>
          <p:cNvSpPr txBox="1"/>
          <p:nvPr/>
        </p:nvSpPr>
        <p:spPr>
          <a:xfrm>
            <a:off x="7488936" y="2377440"/>
            <a:ext cx="1645920" cy="365760"/>
          </a:xfrm>
          <a:prstGeom prst="rect">
            <a:avLst/>
          </a:prstGeom>
          <a:noFill/>
          <a:ln/>
        </p:spPr>
        <p:txBody>
          <a:bodyPr wrap="square" lIns="0" tIns="0" rIns="0" bIns="0" rtlCol="0" anchor="t"/>
          <a:lstStyle/>
          <a:p>
            <a:pPr algn="ctr" indent="0" marL="0">
              <a:buNone/>
            </a:pPr>
            <a:r>
              <a:rPr lang="en-US" sz="1300" dirty="0">
                <a:solidFill>
                  <a:schemeClr val="tx2"/>
                </a:solidFill>
              </a:rPr>
              <a:t>la ejecuta</a:t>
            </a:r>
            <a:endParaRPr lang="en-US" sz="1300" dirty="0"/>
          </a:p>
        </p:txBody>
      </p:sp>
      <p:sp>
        <p:nvSpPr>
          <p:cNvPr id="19" name="Text 17"/>
          <p:cNvSpPr txBox="1"/>
          <p:nvPr/>
        </p:nvSpPr>
        <p:spPr>
          <a:xfrm>
            <a:off x="9290304" y="2103120"/>
            <a:ext cx="310896" cy="457200"/>
          </a:xfrm>
          <a:prstGeom prst="rect">
            <a:avLst/>
          </a:prstGeom>
          <a:noFill/>
          <a:ln/>
        </p:spPr>
        <p:txBody>
          <a:bodyPr wrap="square" lIns="0" tIns="0" rIns="0" bIns="0" rtlCol="0" anchor="t"/>
          <a:lstStyle/>
          <a:p>
            <a:pPr algn="ctr" indent="0" marL="0">
              <a:buNone/>
            </a:pPr>
            <a:r>
              <a:rPr lang="en-US" sz="2200" dirty="0">
                <a:solidFill>
                  <a:schemeClr val="accent2"/>
                </a:solidFill>
              </a:rPr>
              <a:t>→</a:t>
            </a:r>
            <a:endParaRPr lang="en-US" sz="2200" dirty="0"/>
          </a:p>
        </p:txBody>
      </p:sp>
      <p:sp>
        <p:nvSpPr>
          <p:cNvPr id="20" name="ciclo-destroy"/>
          <p:cNvSpPr/>
          <p:nvPr/>
        </p:nvSpPr>
        <p:spPr>
          <a:xfrm>
            <a:off x="9619488" y="1828800"/>
            <a:ext cx="1920240" cy="1051560"/>
          </a:xfrm>
          <a:prstGeom prst="roundRect">
            <a:avLst>
              <a:gd name="adj" fmla="val 10435"/>
            </a:avLst>
          </a:prstGeom>
          <a:solidFill>
            <a:schemeClr val="accent6"/>
          </a:solidFill>
          <a:ln/>
          <a:effectLst>
            <a:outerShdw sx="100000" sy="100000" kx="0" ky="0" algn="bl" rotWithShape="0" blurRad="76200" dist="25400" dir="5400000">
              <a:srgbClr val="14213D">
                <a:alpha val="12000"/>
              </a:srgbClr>
            </a:outerShdw>
          </a:effectLst>
        </p:spPr>
      </p:sp>
      <p:sp>
        <p:nvSpPr>
          <p:cNvPr id="21" name="Text 19"/>
          <p:cNvSpPr txBox="1"/>
          <p:nvPr/>
        </p:nvSpPr>
        <p:spPr>
          <a:xfrm>
            <a:off x="9756648" y="1938528"/>
            <a:ext cx="164592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JetBrains Mono" pitchFamily="34" charset="0"/>
                <a:ea typeface="JetBrains Mono" pitchFamily="34" charset="-122"/>
                <a:cs typeface="JetBrains Mono" pitchFamily="34" charset="-120"/>
              </a:rPr>
              <a:t>destroy</a:t>
            </a:r>
            <a:endParaRPr lang="en-US" sz="1700" dirty="0"/>
          </a:p>
        </p:txBody>
      </p:sp>
      <p:sp>
        <p:nvSpPr>
          <p:cNvPr id="22" name="Text 20"/>
          <p:cNvSpPr txBox="1"/>
          <p:nvPr/>
        </p:nvSpPr>
        <p:spPr>
          <a:xfrm>
            <a:off x="9756648" y="2377440"/>
            <a:ext cx="1645920" cy="365760"/>
          </a:xfrm>
          <a:prstGeom prst="rect">
            <a:avLst/>
          </a:prstGeom>
          <a:noFill/>
          <a:ln/>
        </p:spPr>
        <p:txBody>
          <a:bodyPr wrap="square" lIns="0" tIns="0" rIns="0" bIns="0" rtlCol="0" anchor="t"/>
          <a:lstStyle/>
          <a:p>
            <a:pPr algn="ctr" indent="0" marL="0">
              <a:buNone/>
            </a:pPr>
            <a:r>
              <a:rPr lang="en-US" sz="1300" dirty="0">
                <a:solidFill>
                  <a:schemeClr val="tx2"/>
                </a:solidFill>
              </a:rPr>
              <a:t>borra todo</a:t>
            </a:r>
            <a:endParaRPr lang="en-US" sz="1300" dirty="0"/>
          </a:p>
        </p:txBody>
      </p:sp>
      <p:sp>
        <p:nvSpPr>
          <p:cNvPr id="23" name="codigo-dynamodb"/>
          <p:cNvSpPr/>
          <p:nvPr/>
        </p:nvSpPr>
        <p:spPr>
          <a:xfrm>
            <a:off x="548640" y="3200400"/>
            <a:ext cx="6035040" cy="2880360"/>
          </a:xfrm>
          <a:prstGeom prst="roundRect">
            <a:avLst>
              <a:gd name="adj" fmla="val 3810"/>
            </a:avLst>
          </a:prstGeom>
          <a:solidFill>
            <a:srgbClr val="14213D"/>
          </a:solidFill>
          <a:ln/>
          <a:effectLst>
            <a:outerShdw sx="100000" sy="100000" kx="0" ky="0" algn="bl" rotWithShape="0" blurRad="76200" dist="25400" dir="5400000">
              <a:srgbClr val="14213D">
                <a:alpha val="12000"/>
              </a:srgbClr>
            </a:outerShdw>
          </a:effectLst>
        </p:spPr>
      </p:sp>
      <p:sp>
        <p:nvSpPr>
          <p:cNvPr id="24" name="Text 22"/>
          <p:cNvSpPr txBox="1"/>
          <p:nvPr/>
        </p:nvSpPr>
        <p:spPr>
          <a:xfrm>
            <a:off x="868680" y="3429000"/>
            <a:ext cx="5486400" cy="2468880"/>
          </a:xfrm>
          <a:prstGeom prst="rect">
            <a:avLst/>
          </a:prstGeom>
          <a:noFill/>
          <a:ln/>
        </p:spPr>
        <p:txBody>
          <a:bodyPr wrap="square" lIns="0" tIns="0" rIns="0" bIns="0" rtlCol="0" anchor="t"/>
          <a:lstStyle/>
          <a:p>
            <a:pPr indent="0" marL="0">
              <a:buNone/>
            </a:pPr>
            <a:r>
              <a:rPr lang="en-US" sz="1400" dirty="0">
                <a:solidFill>
                  <a:schemeClr val="bg1"/>
                </a:solidFill>
                <a:latin typeface="JetBrains Mono" pitchFamily="34" charset="0"/>
                <a:ea typeface="JetBrains Mono" pitchFamily="34" charset="-122"/>
                <a:cs typeface="JetBrains Mono" pitchFamily="34" charset="-120"/>
              </a:rPr>
              <a:t>resource "aws_dynamodb_table" "pedidos" {</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name         = "m2-${var.alumno}-pedidos"</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billing_mode = "PAY_PER_REQUEST"</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hash_key     = "id"</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attribute {</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name = "id"</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type = "S"</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  }</a:t>
            </a:r>
            <a:endParaRPr lang="en-US" sz="1400" dirty="0"/>
          </a:p>
          <a:p>
            <a:pPr indent="0" marL="0">
              <a:buNone/>
            </a:pPr>
            <a:r>
              <a:rPr lang="en-US" sz="1400" dirty="0">
                <a:solidFill>
                  <a:schemeClr val="bg1"/>
                </a:solidFill>
                <a:latin typeface="JetBrains Mono" pitchFamily="34" charset="0"/>
                <a:ea typeface="JetBrains Mono" pitchFamily="34" charset="-122"/>
                <a:cs typeface="JetBrains Mono" pitchFamily="34" charset="-120"/>
              </a:rPr>
              <a:t>}</a:t>
            </a:r>
            <a:endParaRPr lang="en-US" sz="1400" dirty="0"/>
          </a:p>
        </p:txBody>
      </p:sp>
      <p:sp>
        <p:nvSpPr>
          <p:cNvPr id="25" name="concepto-1"/>
          <p:cNvSpPr/>
          <p:nvPr/>
        </p:nvSpPr>
        <p:spPr>
          <a:xfrm>
            <a:off x="6858000" y="3200400"/>
            <a:ext cx="4785055" cy="868680"/>
          </a:xfrm>
          <a:prstGeom prst="roundRect">
            <a:avLst>
              <a:gd name="adj" fmla="val 12632"/>
            </a:avLst>
          </a:prstGeom>
          <a:solidFill>
            <a:schemeClr val="accent6"/>
          </a:solidFill>
          <a:ln/>
          <a:effectLst>
            <a:outerShdw sx="100000" sy="100000" kx="0" ky="0" algn="bl" rotWithShape="0" blurRad="76200" dist="25400" dir="5400000">
              <a:srgbClr val="14213D">
                <a:alpha val="12000"/>
              </a:srgbClr>
            </a:outerShdw>
          </a:effectLst>
        </p:spPr>
      </p:sp>
      <p:sp>
        <p:nvSpPr>
          <p:cNvPr id="26" name="Text 24"/>
          <p:cNvSpPr txBox="1"/>
          <p:nvPr/>
        </p:nvSpPr>
        <p:spPr>
          <a:xfrm>
            <a:off x="7132320" y="3310128"/>
            <a:ext cx="4206240" cy="320040"/>
          </a:xfrm>
          <a:prstGeom prst="rect">
            <a:avLst/>
          </a:prstGeom>
          <a:noFill/>
          <a:ln/>
        </p:spPr>
        <p:txBody>
          <a:bodyPr wrap="square" lIns="0" tIns="0" rIns="0" bIns="0" rtlCol="0" anchor="t"/>
          <a:lstStyle/>
          <a:p>
            <a:pPr indent="0" marL="0">
              <a:buNone/>
            </a:pPr>
            <a:r>
              <a:rPr lang="en-US" sz="1500" b="1" dirty="0">
                <a:solidFill>
                  <a:schemeClr val="accent2"/>
                </a:solidFill>
                <a:latin typeface="JetBrains Mono" pitchFamily="34" charset="0"/>
                <a:ea typeface="JetBrains Mono" pitchFamily="34" charset="-122"/>
                <a:cs typeface="JetBrains Mono" pitchFamily="34" charset="-120"/>
              </a:rPr>
              <a:t>provider</a:t>
            </a:r>
            <a:endParaRPr lang="en-US" sz="1500" dirty="0"/>
          </a:p>
        </p:txBody>
      </p:sp>
      <p:sp>
        <p:nvSpPr>
          <p:cNvPr id="27" name="Text 25"/>
          <p:cNvSpPr txBox="1"/>
          <p:nvPr/>
        </p:nvSpPr>
        <p:spPr>
          <a:xfrm>
            <a:off x="7132320" y="3639312"/>
            <a:ext cx="4297680" cy="365760"/>
          </a:xfrm>
          <a:prstGeom prst="rect">
            <a:avLst/>
          </a:prstGeom>
          <a:noFill/>
          <a:ln/>
        </p:spPr>
        <p:txBody>
          <a:bodyPr wrap="square" lIns="0" tIns="0" rIns="0" bIns="0" rtlCol="0" anchor="t"/>
          <a:lstStyle/>
          <a:p>
            <a:pPr indent="0" marL="0">
              <a:buNone/>
            </a:pPr>
            <a:r>
              <a:rPr lang="en-US" sz="1400" dirty="0">
                <a:solidFill>
                  <a:schemeClr val="tx2"/>
                </a:solidFill>
              </a:rPr>
              <a:t>El traductor hacia la API de AWS, GitHub, Cloudflare…</a:t>
            </a:r>
            <a:endParaRPr lang="en-US" sz="1400" dirty="0"/>
          </a:p>
        </p:txBody>
      </p:sp>
      <p:sp>
        <p:nvSpPr>
          <p:cNvPr id="28" name="concepto-2"/>
          <p:cNvSpPr/>
          <p:nvPr/>
        </p:nvSpPr>
        <p:spPr>
          <a:xfrm>
            <a:off x="6858000" y="4187952"/>
            <a:ext cx="4785055" cy="868680"/>
          </a:xfrm>
          <a:prstGeom prst="roundRect">
            <a:avLst>
              <a:gd name="adj" fmla="val 12632"/>
            </a:avLst>
          </a:prstGeom>
          <a:solidFill>
            <a:schemeClr val="accent6"/>
          </a:solidFill>
          <a:ln/>
          <a:effectLst>
            <a:outerShdw sx="100000" sy="100000" kx="0" ky="0" algn="bl" rotWithShape="0" blurRad="76200" dist="25400" dir="5400000">
              <a:srgbClr val="14213D">
                <a:alpha val="12000"/>
              </a:srgbClr>
            </a:outerShdw>
          </a:effectLst>
        </p:spPr>
      </p:sp>
      <p:sp>
        <p:nvSpPr>
          <p:cNvPr id="29" name="Text 27"/>
          <p:cNvSpPr txBox="1"/>
          <p:nvPr/>
        </p:nvSpPr>
        <p:spPr>
          <a:xfrm>
            <a:off x="7132320" y="4297680"/>
            <a:ext cx="4206240" cy="320040"/>
          </a:xfrm>
          <a:prstGeom prst="rect">
            <a:avLst/>
          </a:prstGeom>
          <a:noFill/>
          <a:ln/>
        </p:spPr>
        <p:txBody>
          <a:bodyPr wrap="square" lIns="0" tIns="0" rIns="0" bIns="0" rtlCol="0" anchor="t"/>
          <a:lstStyle/>
          <a:p>
            <a:pPr indent="0" marL="0">
              <a:buNone/>
            </a:pPr>
            <a:r>
              <a:rPr lang="en-US" sz="1500" b="1" dirty="0">
                <a:solidFill>
                  <a:schemeClr val="accent2"/>
                </a:solidFill>
                <a:latin typeface="JetBrains Mono" pitchFamily="34" charset="0"/>
                <a:ea typeface="JetBrains Mono" pitchFamily="34" charset="-122"/>
                <a:cs typeface="JetBrains Mono" pitchFamily="34" charset="-120"/>
              </a:rPr>
              <a:t>resource</a:t>
            </a:r>
            <a:endParaRPr lang="en-US" sz="1500" dirty="0"/>
          </a:p>
        </p:txBody>
      </p:sp>
      <p:sp>
        <p:nvSpPr>
          <p:cNvPr id="30" name="Text 28"/>
          <p:cNvSpPr txBox="1"/>
          <p:nvPr/>
        </p:nvSpPr>
        <p:spPr>
          <a:xfrm>
            <a:off x="7132320" y="4626864"/>
            <a:ext cx="4297680" cy="365760"/>
          </a:xfrm>
          <a:prstGeom prst="rect">
            <a:avLst/>
          </a:prstGeom>
          <a:noFill/>
          <a:ln/>
        </p:spPr>
        <p:txBody>
          <a:bodyPr wrap="square" lIns="0" tIns="0" rIns="0" bIns="0" rtlCol="0" anchor="t"/>
          <a:lstStyle/>
          <a:p>
            <a:pPr indent="0" marL="0">
              <a:buNone/>
            </a:pPr>
            <a:r>
              <a:rPr lang="en-US" sz="1400" dirty="0">
                <a:solidFill>
                  <a:schemeClr val="tx2"/>
                </a:solidFill>
              </a:rPr>
              <a:t>Algo que Terraform crea y administra</a:t>
            </a:r>
            <a:endParaRPr lang="en-US" sz="1400" dirty="0"/>
          </a:p>
        </p:txBody>
      </p:sp>
      <p:sp>
        <p:nvSpPr>
          <p:cNvPr id="31" name="concepto-3"/>
          <p:cNvSpPr/>
          <p:nvPr/>
        </p:nvSpPr>
        <p:spPr>
          <a:xfrm>
            <a:off x="6858000" y="5175504"/>
            <a:ext cx="4785055" cy="868680"/>
          </a:xfrm>
          <a:prstGeom prst="roundRect">
            <a:avLst>
              <a:gd name="adj" fmla="val 12632"/>
            </a:avLst>
          </a:prstGeom>
          <a:solidFill>
            <a:schemeClr val="accent6"/>
          </a:solidFill>
          <a:ln/>
          <a:effectLst>
            <a:outerShdw sx="100000" sy="100000" kx="0" ky="0" algn="bl" rotWithShape="0" blurRad="76200" dist="25400" dir="5400000">
              <a:srgbClr val="14213D">
                <a:alpha val="12000"/>
              </a:srgbClr>
            </a:outerShdw>
          </a:effectLst>
        </p:spPr>
      </p:sp>
      <p:sp>
        <p:nvSpPr>
          <p:cNvPr id="32" name="Text 30"/>
          <p:cNvSpPr txBox="1"/>
          <p:nvPr/>
        </p:nvSpPr>
        <p:spPr>
          <a:xfrm>
            <a:off x="7132320" y="5285232"/>
            <a:ext cx="4206240" cy="320040"/>
          </a:xfrm>
          <a:prstGeom prst="rect">
            <a:avLst/>
          </a:prstGeom>
          <a:noFill/>
          <a:ln/>
        </p:spPr>
        <p:txBody>
          <a:bodyPr wrap="square" lIns="0" tIns="0" rIns="0" bIns="0" rtlCol="0" anchor="t"/>
          <a:lstStyle/>
          <a:p>
            <a:pPr indent="0" marL="0">
              <a:buNone/>
            </a:pPr>
            <a:r>
              <a:rPr lang="en-US" sz="1500" b="1" dirty="0">
                <a:solidFill>
                  <a:schemeClr val="accent2"/>
                </a:solidFill>
                <a:latin typeface="JetBrains Mono" pitchFamily="34" charset="0"/>
                <a:ea typeface="JetBrains Mono" pitchFamily="34" charset="-122"/>
                <a:cs typeface="JetBrains Mono" pitchFamily="34" charset="-120"/>
              </a:rPr>
              <a:t>data source</a:t>
            </a:r>
            <a:endParaRPr lang="en-US" sz="1500" dirty="0"/>
          </a:p>
        </p:txBody>
      </p:sp>
      <p:sp>
        <p:nvSpPr>
          <p:cNvPr id="33" name="Text 31"/>
          <p:cNvSpPr txBox="1"/>
          <p:nvPr/>
        </p:nvSpPr>
        <p:spPr>
          <a:xfrm>
            <a:off x="7132320" y="5614416"/>
            <a:ext cx="4297680" cy="365760"/>
          </a:xfrm>
          <a:prstGeom prst="rect">
            <a:avLst/>
          </a:prstGeom>
          <a:noFill/>
          <a:ln/>
        </p:spPr>
        <p:txBody>
          <a:bodyPr wrap="square" lIns="0" tIns="0" rIns="0" bIns="0" rtlCol="0" anchor="t"/>
          <a:lstStyle/>
          <a:p>
            <a:pPr indent="0" marL="0">
              <a:buNone/>
            </a:pPr>
            <a:r>
              <a:rPr lang="en-US" sz="1400" dirty="0">
                <a:solidFill>
                  <a:schemeClr val="tx2"/>
                </a:solidFill>
              </a:rPr>
              <a:t>Algo que solo lee, como el rol LabRole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STATE</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El state es la memoria de Terraform</a:t>
            </a:r>
            <a:endParaRPr lang="en-US" sz="3000" dirty="0"/>
          </a:p>
        </p:txBody>
      </p:sp>
      <p:sp>
        <p:nvSpPr>
          <p:cNvPr id="4" name="linea-codigo-state"/>
          <p:cNvSpPr/>
          <p:nvPr/>
        </p:nvSpPr>
        <p:spPr>
          <a:xfrm flipH="1">
            <a:off x="1371600" y="3200400"/>
            <a:ext cx="1691640" cy="960120"/>
          </a:xfrm>
          <a:prstGeom prst="line">
            <a:avLst/>
          </a:prstGeom>
          <a:noFill/>
          <a:ln w="19050">
            <a:solidFill>
              <a:srgbClr val="4A5568"/>
            </a:solidFill>
            <a:prstDash val="dash"/>
          </a:ln>
        </p:spPr>
      </p:sp>
      <p:sp>
        <p:nvSpPr>
          <p:cNvPr id="5" name="linea-codigo-nube"/>
          <p:cNvSpPr/>
          <p:nvPr/>
        </p:nvSpPr>
        <p:spPr>
          <a:xfrm>
            <a:off x="3063240" y="3200400"/>
            <a:ext cx="1691640" cy="960120"/>
          </a:xfrm>
          <a:prstGeom prst="line">
            <a:avLst/>
          </a:prstGeom>
          <a:noFill/>
          <a:ln w="19050">
            <a:solidFill>
              <a:srgbClr val="4A5568"/>
            </a:solidFill>
            <a:prstDash val="dash"/>
          </a:ln>
        </p:spPr>
      </p:sp>
      <p:sp>
        <p:nvSpPr>
          <p:cNvPr id="6" name="linea-state-nube"/>
          <p:cNvSpPr/>
          <p:nvPr/>
        </p:nvSpPr>
        <p:spPr>
          <a:xfrm>
            <a:off x="2194560" y="4846320"/>
            <a:ext cx="1737360" cy="0"/>
          </a:xfrm>
          <a:prstGeom prst="line">
            <a:avLst/>
          </a:prstGeom>
          <a:noFill/>
          <a:ln w="19050">
            <a:solidFill>
              <a:srgbClr val="4A5568"/>
            </a:solidFill>
            <a:prstDash val="dash"/>
          </a:ln>
        </p:spPr>
      </p:sp>
      <p:sp>
        <p:nvSpPr>
          <p:cNvPr id="7" name="nodo-Código"/>
          <p:cNvSpPr/>
          <p:nvPr/>
        </p:nvSpPr>
        <p:spPr>
          <a:xfrm>
            <a:off x="2240280" y="1783080"/>
            <a:ext cx="1645920" cy="1417320"/>
          </a:xfrm>
          <a:prstGeom prst="roundRect">
            <a:avLst>
              <a:gd name="adj" fmla="val 7742"/>
            </a:avLst>
          </a:prstGeom>
          <a:solidFill>
            <a:schemeClr val="accent6"/>
          </a:solidFill>
          <a:ln/>
          <a:effectLst>
            <a:outerShdw sx="100000" sy="100000" kx="0" ky="0" algn="bl" rotWithShape="0" blurRad="76200" dist="25400" dir="5400000">
              <a:srgbClr val="14213D">
                <a:alpha val="12000"/>
              </a:srgbClr>
            </a:outerShdw>
          </a:effectLst>
        </p:spPr>
      </p:sp>
      <p:sp>
        <p:nvSpPr>
          <p:cNvPr id="8" name="Text 6"/>
          <p:cNvSpPr txBox="1"/>
          <p:nvPr/>
        </p:nvSpPr>
        <p:spPr>
          <a:xfrm>
            <a:off x="2240280" y="1920240"/>
            <a:ext cx="1645920" cy="365760"/>
          </a:xfrm>
          <a:prstGeom prst="rect">
            <a:avLst/>
          </a:prstGeom>
          <a:noFill/>
          <a:ln/>
        </p:spPr>
        <p:txBody>
          <a:bodyPr wrap="square" lIns="0" tIns="0" rIns="0" bIns="0" rtlCol="0" anchor="t"/>
          <a:lstStyle/>
          <a:p>
            <a:pPr algn="ctr" indent="0" marL="0">
              <a:buNone/>
            </a:pPr>
            <a:r>
              <a:rPr lang="en-US" sz="1800" b="1" dirty="0">
                <a:solidFill>
                  <a:schemeClr val="tx1"/>
                </a:solidFill>
              </a:rPr>
              <a:t>Código</a:t>
            </a:r>
            <a:endParaRPr lang="en-US" sz="1800" dirty="0"/>
          </a:p>
        </p:txBody>
      </p:sp>
      <p:sp>
        <p:nvSpPr>
          <p:cNvPr id="9" name="Text 7"/>
          <p:cNvSpPr txBox="1"/>
          <p:nvPr/>
        </p:nvSpPr>
        <p:spPr>
          <a:xfrm>
            <a:off x="2240280" y="2286000"/>
            <a:ext cx="1645920" cy="274320"/>
          </a:xfrm>
          <a:prstGeom prst="rect">
            <a:avLst/>
          </a:prstGeom>
          <a:noFill/>
          <a:ln/>
        </p:spPr>
        <p:txBody>
          <a:bodyPr wrap="square" lIns="0" tIns="0" rIns="0" bIns="0" rtlCol="0" anchor="t"/>
          <a:lstStyle/>
          <a:p>
            <a:pPr algn="ctr" indent="0" marL="0">
              <a:buNone/>
            </a:pPr>
            <a:r>
              <a:rPr lang="en-US" sz="1000" dirty="0">
                <a:solidFill>
                  <a:schemeClr val="tx1"/>
                </a:solidFill>
                <a:latin typeface="JetBrains Mono" pitchFamily="34" charset="0"/>
                <a:ea typeface="JetBrains Mono" pitchFamily="34" charset="-122"/>
                <a:cs typeface="JetBrains Mono" pitchFamily="34" charset="-120"/>
              </a:rPr>
              <a:t>.tf</a:t>
            </a:r>
            <a:endParaRPr lang="en-US" sz="1000" dirty="0"/>
          </a:p>
        </p:txBody>
      </p:sp>
      <p:sp>
        <p:nvSpPr>
          <p:cNvPr id="10" name="Text 8"/>
          <p:cNvSpPr txBox="1"/>
          <p:nvPr/>
        </p:nvSpPr>
        <p:spPr>
          <a:xfrm>
            <a:off x="2331720" y="2587752"/>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lo que quieres</a:t>
            </a:r>
            <a:endParaRPr lang="en-US" sz="1200" dirty="0"/>
          </a:p>
        </p:txBody>
      </p:sp>
      <p:sp>
        <p:nvSpPr>
          <p:cNvPr id="11" name="nodo-State"/>
          <p:cNvSpPr/>
          <p:nvPr/>
        </p:nvSpPr>
        <p:spPr>
          <a:xfrm>
            <a:off x="548640" y="4160520"/>
            <a:ext cx="1645920" cy="1417320"/>
          </a:xfrm>
          <a:prstGeom prst="roundRect">
            <a:avLst>
              <a:gd name="adj" fmla="val 7742"/>
            </a:avLst>
          </a:prstGeom>
          <a:solidFill>
            <a:srgbClr val="B34A12"/>
          </a:solidFill>
          <a:ln/>
          <a:effectLst>
            <a:outerShdw sx="100000" sy="100000" kx="0" ky="0" algn="bl" rotWithShape="0" blurRad="76200" dist="25400" dir="5400000">
              <a:srgbClr val="14213D">
                <a:alpha val="12000"/>
              </a:srgbClr>
            </a:outerShdw>
          </a:effectLst>
        </p:spPr>
      </p:sp>
      <p:sp>
        <p:nvSpPr>
          <p:cNvPr id="12" name="Text 10"/>
          <p:cNvSpPr txBox="1"/>
          <p:nvPr/>
        </p:nvSpPr>
        <p:spPr>
          <a:xfrm>
            <a:off x="548640" y="4297680"/>
            <a:ext cx="1645920" cy="365760"/>
          </a:xfrm>
          <a:prstGeom prst="rect">
            <a:avLst/>
          </a:prstGeom>
          <a:noFill/>
          <a:ln/>
        </p:spPr>
        <p:txBody>
          <a:bodyPr wrap="square" lIns="0" tIns="0" rIns="0" bIns="0" rtlCol="0" anchor="t"/>
          <a:lstStyle/>
          <a:p>
            <a:pPr algn="ctr" indent="0" marL="0">
              <a:buNone/>
            </a:pPr>
            <a:r>
              <a:rPr lang="en-US" sz="1800" b="1" dirty="0">
                <a:solidFill>
                  <a:schemeClr val="bg1"/>
                </a:solidFill>
              </a:rPr>
              <a:t>State</a:t>
            </a:r>
            <a:endParaRPr lang="en-US" sz="1800" dirty="0"/>
          </a:p>
        </p:txBody>
      </p:sp>
      <p:sp>
        <p:nvSpPr>
          <p:cNvPr id="13" name="Text 11"/>
          <p:cNvSpPr txBox="1"/>
          <p:nvPr/>
        </p:nvSpPr>
        <p:spPr>
          <a:xfrm>
            <a:off x="548640" y="4663440"/>
            <a:ext cx="1645920" cy="274320"/>
          </a:xfrm>
          <a:prstGeom prst="rect">
            <a:avLst/>
          </a:prstGeom>
          <a:noFill/>
          <a:ln/>
        </p:spPr>
        <p:txBody>
          <a:bodyPr wrap="square" lIns="0" tIns="0" rIns="0" bIns="0" rtlCol="0" anchor="t"/>
          <a:lstStyle/>
          <a:p>
            <a:pPr algn="ctr" indent="0" marL="0">
              <a:buNone/>
            </a:pPr>
            <a:r>
              <a:rPr lang="en-US" sz="1000" dirty="0">
                <a:solidFill>
                  <a:schemeClr val="bg1"/>
                </a:solidFill>
                <a:latin typeface="JetBrains Mono" pitchFamily="34" charset="0"/>
                <a:ea typeface="JetBrains Mono" pitchFamily="34" charset="-122"/>
                <a:cs typeface="JetBrains Mono" pitchFamily="34" charset="-120"/>
              </a:rPr>
              <a:t>terraform.tfstate</a:t>
            </a:r>
            <a:endParaRPr lang="en-US" sz="1000" dirty="0"/>
          </a:p>
        </p:txBody>
      </p:sp>
      <p:sp>
        <p:nvSpPr>
          <p:cNvPr id="14" name="Text 12"/>
          <p:cNvSpPr txBox="1"/>
          <p:nvPr/>
        </p:nvSpPr>
        <p:spPr>
          <a:xfrm>
            <a:off x="640080" y="4965192"/>
            <a:ext cx="1463040" cy="548640"/>
          </a:xfrm>
          <a:prstGeom prst="rect">
            <a:avLst/>
          </a:prstGeom>
          <a:noFill/>
          <a:ln/>
        </p:spPr>
        <p:txBody>
          <a:bodyPr wrap="square" lIns="0" tIns="0" rIns="0" bIns="0" rtlCol="0" anchor="t"/>
          <a:lstStyle/>
          <a:p>
            <a:pPr algn="ctr" indent="0" marL="0">
              <a:buNone/>
            </a:pPr>
            <a:r>
              <a:rPr lang="en-US" sz="1200" dirty="0">
                <a:solidFill>
                  <a:schemeClr val="bg1"/>
                </a:solidFill>
              </a:rPr>
              <a:t>lo que Terraform cree que creó</a:t>
            </a:r>
            <a:endParaRPr lang="en-US" sz="1200" dirty="0"/>
          </a:p>
        </p:txBody>
      </p:sp>
      <p:sp>
        <p:nvSpPr>
          <p:cNvPr id="15" name="nodo-Nube"/>
          <p:cNvSpPr/>
          <p:nvPr/>
        </p:nvSpPr>
        <p:spPr>
          <a:xfrm>
            <a:off x="3931920" y="4160520"/>
            <a:ext cx="1645920" cy="1417320"/>
          </a:xfrm>
          <a:prstGeom prst="roundRect">
            <a:avLst>
              <a:gd name="adj" fmla="val 7742"/>
            </a:avLst>
          </a:prstGeom>
          <a:solidFill>
            <a:schemeClr val="accent6"/>
          </a:solidFill>
          <a:ln/>
          <a:effectLst>
            <a:outerShdw sx="100000" sy="100000" kx="0" ky="0" algn="bl" rotWithShape="0" blurRad="76200" dist="25400" dir="5400000">
              <a:srgbClr val="14213D">
                <a:alpha val="12000"/>
              </a:srgbClr>
            </a:outerShdw>
          </a:effectLst>
        </p:spPr>
      </p:sp>
      <p:sp>
        <p:nvSpPr>
          <p:cNvPr id="16" name="Text 14"/>
          <p:cNvSpPr txBox="1"/>
          <p:nvPr/>
        </p:nvSpPr>
        <p:spPr>
          <a:xfrm>
            <a:off x="3931920" y="4297680"/>
            <a:ext cx="1645920" cy="365760"/>
          </a:xfrm>
          <a:prstGeom prst="rect">
            <a:avLst/>
          </a:prstGeom>
          <a:noFill/>
          <a:ln/>
        </p:spPr>
        <p:txBody>
          <a:bodyPr wrap="square" lIns="0" tIns="0" rIns="0" bIns="0" rtlCol="0" anchor="t"/>
          <a:lstStyle/>
          <a:p>
            <a:pPr algn="ctr" indent="0" marL="0">
              <a:buNone/>
            </a:pPr>
            <a:r>
              <a:rPr lang="en-US" sz="1800" b="1" dirty="0">
                <a:solidFill>
                  <a:schemeClr val="tx1"/>
                </a:solidFill>
              </a:rPr>
              <a:t>Nube</a:t>
            </a:r>
            <a:endParaRPr lang="en-US" sz="1800" dirty="0"/>
          </a:p>
        </p:txBody>
      </p:sp>
      <p:sp>
        <p:nvSpPr>
          <p:cNvPr id="17" name="Text 15"/>
          <p:cNvSpPr txBox="1"/>
          <p:nvPr/>
        </p:nvSpPr>
        <p:spPr>
          <a:xfrm>
            <a:off x="3931920" y="4663440"/>
            <a:ext cx="1645920" cy="274320"/>
          </a:xfrm>
          <a:prstGeom prst="rect">
            <a:avLst/>
          </a:prstGeom>
          <a:noFill/>
          <a:ln/>
        </p:spPr>
        <p:txBody>
          <a:bodyPr wrap="square" lIns="0" tIns="0" rIns="0" bIns="0" rtlCol="0" anchor="t"/>
          <a:lstStyle/>
          <a:p>
            <a:pPr algn="ctr" indent="0" marL="0">
              <a:buNone/>
            </a:pPr>
            <a:r>
              <a:rPr lang="en-US" sz="1000" dirty="0">
                <a:solidFill>
                  <a:schemeClr val="tx1"/>
                </a:solidFill>
                <a:latin typeface="JetBrains Mono" pitchFamily="34" charset="0"/>
                <a:ea typeface="JetBrains Mono" pitchFamily="34" charset="-122"/>
                <a:cs typeface="JetBrains Mono" pitchFamily="34" charset="-120"/>
              </a:rPr>
              <a:t>AWS</a:t>
            </a:r>
            <a:endParaRPr lang="en-US" sz="1000" dirty="0"/>
          </a:p>
        </p:txBody>
      </p:sp>
      <p:sp>
        <p:nvSpPr>
          <p:cNvPr id="18" name="Text 16"/>
          <p:cNvSpPr txBox="1"/>
          <p:nvPr/>
        </p:nvSpPr>
        <p:spPr>
          <a:xfrm>
            <a:off x="4023360" y="4965192"/>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lo que existe de verdad</a:t>
            </a:r>
            <a:endParaRPr lang="en-US" sz="1200" dirty="0"/>
          </a:p>
        </p:txBody>
      </p:sp>
      <p:sp>
        <p:nvSpPr>
          <p:cNvPr id="19" name="pill-plan"/>
          <p:cNvSpPr/>
          <p:nvPr/>
        </p:nvSpPr>
        <p:spPr>
          <a:xfrm>
            <a:off x="2148840" y="3520440"/>
            <a:ext cx="1828800" cy="438912"/>
          </a:xfrm>
          <a:prstGeom prst="roundRect">
            <a:avLst>
              <a:gd name="adj" fmla="val 50000"/>
            </a:avLst>
          </a:prstGeom>
          <a:solidFill>
            <a:srgbClr val="2D6CDF"/>
          </a:solidFill>
          <a:ln/>
        </p:spPr>
      </p:sp>
      <p:sp>
        <p:nvSpPr>
          <p:cNvPr id="20" name="Text 18"/>
          <p:cNvSpPr txBox="1"/>
          <p:nvPr/>
        </p:nvSpPr>
        <p:spPr>
          <a:xfrm>
            <a:off x="2286000" y="3520440"/>
            <a:ext cx="155448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JetBrains Mono" pitchFamily="34" charset="0"/>
                <a:ea typeface="JetBrains Mono" pitchFamily="34" charset="-122"/>
                <a:cs typeface="JetBrains Mono" pitchFamily="34" charset="-120"/>
              </a:rPr>
              <a:t>plan compara</a:t>
            </a:r>
            <a:endParaRPr lang="en-US" sz="1300" dirty="0"/>
          </a:p>
        </p:txBody>
      </p:sp>
      <p:sp>
        <p:nvSpPr>
          <p:cNvPr id="21" name="codigo-state"/>
          <p:cNvSpPr/>
          <p:nvPr/>
        </p:nvSpPr>
        <p:spPr>
          <a:xfrm>
            <a:off x="6309360" y="1828800"/>
            <a:ext cx="5333695" cy="2331720"/>
          </a:xfrm>
          <a:prstGeom prst="roundRect">
            <a:avLst>
              <a:gd name="adj" fmla="val 4706"/>
            </a:avLst>
          </a:prstGeom>
          <a:solidFill>
            <a:srgbClr val="14213D"/>
          </a:solidFill>
          <a:ln/>
          <a:effectLst>
            <a:outerShdw sx="100000" sy="100000" kx="0" ky="0" algn="bl" rotWithShape="0" blurRad="76200" dist="25400" dir="5400000">
              <a:srgbClr val="14213D">
                <a:alpha val="12000"/>
              </a:srgbClr>
            </a:outerShdw>
          </a:effectLst>
        </p:spPr>
      </p:sp>
      <p:sp>
        <p:nvSpPr>
          <p:cNvPr id="22" name="Text 20"/>
          <p:cNvSpPr txBox="1"/>
          <p:nvPr/>
        </p:nvSpPr>
        <p:spPr>
          <a:xfrm>
            <a:off x="6583680" y="2011680"/>
            <a:ext cx="4754880" cy="2011680"/>
          </a:xfrm>
          <a:prstGeom prst="rect">
            <a:avLst/>
          </a:prstGeom>
          <a:noFill/>
          <a:ln/>
        </p:spPr>
        <p:txBody>
          <a:bodyPr wrap="square" lIns="0" tIns="0" rIns="0" bIns="0" rtlCol="0" anchor="t"/>
          <a:lstStyle/>
          <a:p>
            <a:pPr indent="0" marL="0">
              <a:buNone/>
            </a:pPr>
            <a:r>
              <a:rPr lang="en-US" sz="1300" dirty="0">
                <a:solidFill>
                  <a:schemeClr val="bg1"/>
                </a:solidFill>
                <a:latin typeface="JetBrains Mono" pitchFamily="34" charset="0"/>
                <a:ea typeface="JetBrains Mono" pitchFamily="34" charset="-122"/>
                <a:cs typeface="JetBrains Mono" pitchFamily="34" charset="-120"/>
              </a:rPr>
              <a:t>"type": "aws_lambda_function",</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"name": "web",</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"attributes": {</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  "function_name": "m2-perez-web",</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  "memory_size": 128,</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  "role": "...:role/LabRole"</a:t>
            </a:r>
            <a:endParaRPr lang="en-US" sz="1300" dirty="0"/>
          </a:p>
          <a:p>
            <a:pPr indent="0" marL="0">
              <a:buNone/>
            </a:pPr>
            <a:r>
              <a:rPr lang="en-US" sz="1300" dirty="0">
                <a:solidFill>
                  <a:schemeClr val="bg1"/>
                </a:solidFill>
                <a:latin typeface="JetBrains Mono" pitchFamily="34" charset="0"/>
                <a:ea typeface="JetBrains Mono" pitchFamily="34" charset="-122"/>
                <a:cs typeface="JetBrains Mono" pitchFamily="34" charset="-120"/>
              </a:rPr>
              <a:t>}</a:t>
            </a:r>
            <a:endParaRPr lang="en-US" sz="1300" dirty="0"/>
          </a:p>
        </p:txBody>
      </p:sp>
      <p:sp>
        <p:nvSpPr>
          <p:cNvPr id="23" name="Text 21"/>
          <p:cNvSpPr txBox="1"/>
          <p:nvPr/>
        </p:nvSpPr>
        <p:spPr>
          <a:xfrm>
            <a:off x="6309360" y="4389120"/>
            <a:ext cx="548640" cy="457200"/>
          </a:xfrm>
          <a:prstGeom prst="rect">
            <a:avLst/>
          </a:prstGeom>
          <a:noFill/>
          <a:ln/>
        </p:spPr>
        <p:txBody>
          <a:bodyPr wrap="square" lIns="0" tIns="0" rIns="0" bIns="0" rtlCol="0" anchor="ctr"/>
          <a:lstStyle/>
          <a:p>
            <a:pPr indent="0" marL="0">
              <a:buNone/>
            </a:pPr>
            <a:r>
              <a:rPr lang="en-US" sz="1500" b="1" dirty="0">
                <a:solidFill>
                  <a:schemeClr val="accent1"/>
                </a:solidFill>
                <a:latin typeface="JetBrains Mono" pitchFamily="34" charset="0"/>
                <a:ea typeface="JetBrains Mono" pitchFamily="34" charset="-122"/>
                <a:cs typeface="JetBrains Mono" pitchFamily="34" charset="-120"/>
              </a:rPr>
              <a:t>01</a:t>
            </a:r>
            <a:endParaRPr lang="en-US" sz="1500" dirty="0"/>
          </a:p>
        </p:txBody>
      </p:sp>
      <p:sp>
        <p:nvSpPr>
          <p:cNvPr id="24" name="Text 22"/>
          <p:cNvSpPr txBox="1"/>
          <p:nvPr/>
        </p:nvSpPr>
        <p:spPr>
          <a:xfrm>
            <a:off x="6858000" y="4389120"/>
            <a:ext cx="4754880" cy="457200"/>
          </a:xfrm>
          <a:prstGeom prst="rect">
            <a:avLst/>
          </a:prstGeom>
          <a:noFill/>
          <a:ln/>
        </p:spPr>
        <p:txBody>
          <a:bodyPr wrap="square" lIns="0" tIns="0" rIns="0" bIns="0" rtlCol="0" anchor="ctr"/>
          <a:lstStyle/>
          <a:p>
            <a:pPr indent="0" marL="0">
              <a:buNone/>
            </a:pPr>
            <a:r>
              <a:rPr lang="en-US" sz="1500" b="1" dirty="0">
                <a:solidFill>
                  <a:schemeClr val="tx1"/>
                </a:solidFill>
              </a:rPr>
              <a:t>Nunca se edita a mano</a:t>
            </a:r>
            <a:endParaRPr lang="en-US" sz="1500" dirty="0"/>
          </a:p>
        </p:txBody>
      </p:sp>
      <p:sp>
        <p:nvSpPr>
          <p:cNvPr id="25" name="Text 23"/>
          <p:cNvSpPr txBox="1"/>
          <p:nvPr/>
        </p:nvSpPr>
        <p:spPr>
          <a:xfrm>
            <a:off x="6309360" y="4956048"/>
            <a:ext cx="548640" cy="457200"/>
          </a:xfrm>
          <a:prstGeom prst="rect">
            <a:avLst/>
          </a:prstGeom>
          <a:noFill/>
          <a:ln/>
        </p:spPr>
        <p:txBody>
          <a:bodyPr wrap="square" lIns="0" tIns="0" rIns="0" bIns="0" rtlCol="0" anchor="ctr"/>
          <a:lstStyle/>
          <a:p>
            <a:pPr indent="0" marL="0">
              <a:buNone/>
            </a:pPr>
            <a:r>
              <a:rPr lang="en-US" sz="1500" b="1" dirty="0">
                <a:solidFill>
                  <a:schemeClr val="accent1"/>
                </a:solidFill>
                <a:latin typeface="JetBrains Mono" pitchFamily="34" charset="0"/>
                <a:ea typeface="JetBrains Mono" pitchFamily="34" charset="-122"/>
                <a:cs typeface="JetBrains Mono" pitchFamily="34" charset="-120"/>
              </a:rPr>
              <a:t>02</a:t>
            </a:r>
            <a:endParaRPr lang="en-US" sz="1500" dirty="0"/>
          </a:p>
        </p:txBody>
      </p:sp>
      <p:sp>
        <p:nvSpPr>
          <p:cNvPr id="26" name="Text 24"/>
          <p:cNvSpPr txBox="1"/>
          <p:nvPr/>
        </p:nvSpPr>
        <p:spPr>
          <a:xfrm>
            <a:off x="6858000" y="4956048"/>
            <a:ext cx="4754880" cy="457200"/>
          </a:xfrm>
          <a:prstGeom prst="rect">
            <a:avLst/>
          </a:prstGeom>
          <a:noFill/>
          <a:ln/>
        </p:spPr>
        <p:txBody>
          <a:bodyPr wrap="square" lIns="0" tIns="0" rIns="0" bIns="0" rtlCol="0" anchor="ctr"/>
          <a:lstStyle/>
          <a:p>
            <a:pPr indent="0" marL="0">
              <a:buNone/>
            </a:pPr>
            <a:r>
              <a:rPr lang="en-US" sz="1500" b="1" dirty="0">
                <a:solidFill>
                  <a:schemeClr val="tx1"/>
                </a:solidFill>
              </a:rPr>
              <a:t>Puede contener secretos: se trata como una credencial</a:t>
            </a:r>
            <a:endParaRPr lang="en-US" sz="1500" dirty="0"/>
          </a:p>
        </p:txBody>
      </p:sp>
      <p:sp>
        <p:nvSpPr>
          <p:cNvPr id="27" name="Text 25"/>
          <p:cNvSpPr txBox="1"/>
          <p:nvPr/>
        </p:nvSpPr>
        <p:spPr>
          <a:xfrm>
            <a:off x="6309360" y="5522976"/>
            <a:ext cx="548640" cy="457200"/>
          </a:xfrm>
          <a:prstGeom prst="rect">
            <a:avLst/>
          </a:prstGeom>
          <a:noFill/>
          <a:ln/>
        </p:spPr>
        <p:txBody>
          <a:bodyPr wrap="square" lIns="0" tIns="0" rIns="0" bIns="0" rtlCol="0" anchor="ctr"/>
          <a:lstStyle/>
          <a:p>
            <a:pPr indent="0" marL="0">
              <a:buNone/>
            </a:pPr>
            <a:r>
              <a:rPr lang="en-US" sz="1500" b="1" dirty="0">
                <a:solidFill>
                  <a:schemeClr val="accent1"/>
                </a:solidFill>
                <a:latin typeface="JetBrains Mono" pitchFamily="34" charset="0"/>
                <a:ea typeface="JetBrains Mono" pitchFamily="34" charset="-122"/>
                <a:cs typeface="JetBrains Mono" pitchFamily="34" charset="-120"/>
              </a:rPr>
              <a:t>03</a:t>
            </a:r>
            <a:endParaRPr lang="en-US" sz="1500" dirty="0"/>
          </a:p>
        </p:txBody>
      </p:sp>
      <p:sp>
        <p:nvSpPr>
          <p:cNvPr id="28" name="Text 26"/>
          <p:cNvSpPr txBox="1"/>
          <p:nvPr/>
        </p:nvSpPr>
        <p:spPr>
          <a:xfrm>
            <a:off x="6858000" y="5522976"/>
            <a:ext cx="4754880" cy="457200"/>
          </a:xfrm>
          <a:prstGeom prst="rect">
            <a:avLst/>
          </a:prstGeom>
          <a:noFill/>
          <a:ln/>
        </p:spPr>
        <p:txBody>
          <a:bodyPr wrap="square" lIns="0" tIns="0" rIns="0" bIns="0" rtlCol="0" anchor="ctr"/>
          <a:lstStyle/>
          <a:p>
            <a:pPr indent="0" marL="0">
              <a:buNone/>
            </a:pPr>
            <a:r>
              <a:rPr lang="en-US" sz="1500" b="1" dirty="0">
                <a:solidFill>
                  <a:schemeClr val="tx1"/>
                </a:solidFill>
              </a:rPr>
              <a:t>En equipo vive en un backend remoto con bloqueo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bg1"/>
                </a:solidFill>
                <a:latin typeface="JetBrains Mono" pitchFamily="34" charset="0"/>
                <a:ea typeface="JetBrains Mono" pitchFamily="34" charset="-122"/>
                <a:cs typeface="JetBrains Mono" pitchFamily="34" charset="-120"/>
              </a:rPr>
              <a:t>STATE</a:t>
            </a:r>
            <a:endParaRPr lang="en-US" sz="1200" dirty="0"/>
          </a:p>
        </p:txBody>
      </p:sp>
      <p:sp>
        <p:nvSpPr>
          <p:cNvPr id="3" name="Text 1"/>
          <p:cNvSpPr/>
          <p:nvPr>
            <p:ph idx="102" type="title" hasCustomPrompt="1"/>
          </p:nvPr>
        </p:nvSpPr>
        <p:spPr>
          <a:xfrm>
            <a:off x="548640" y="1280160"/>
            <a:ext cx="11094415" cy="1463040"/>
          </a:xfrm>
          <a:prstGeom prst="rect">
            <a:avLst/>
          </a:prstGeom>
          <a:noFill/>
          <a:ln/>
        </p:spPr>
        <p:txBody>
          <a:bodyPr wrap="square" lIns="0" tIns="0" rIns="0" bIns="0" rtlCol="0" anchor="t"/>
          <a:lstStyle/>
          <a:p>
            <a:pPr algn="l" indent="0" marL="0">
              <a:buNone/>
            </a:pPr>
            <a:r>
              <a:rPr lang="en-US" sz="4400" b="1" dirty="0">
                <a:solidFill>
                  <a:schemeClr val="bg1"/>
                </a:solidFill>
              </a:rPr>
              <a:t>Perder el state no borra nada, y ese es el problema</a:t>
            </a:r>
            <a:endParaRPr lang="en-US" sz="4400" dirty="0"/>
          </a:p>
        </p:txBody>
      </p:sp>
      <p:sp>
        <p:nvSpPr>
          <p:cNvPr id="4" name="Text 2"/>
          <p:cNvSpPr txBox="1"/>
          <p:nvPr/>
        </p:nvSpPr>
        <p:spPr>
          <a:xfrm>
            <a:off x="548640" y="2880360"/>
            <a:ext cx="11094415" cy="822960"/>
          </a:xfrm>
          <a:prstGeom prst="rect">
            <a:avLst/>
          </a:prstGeom>
          <a:noFill/>
          <a:ln/>
        </p:spPr>
        <p:txBody>
          <a:bodyPr wrap="square" lIns="0" tIns="0" rIns="0" bIns="0" rtlCol="0" anchor="t"/>
          <a:lstStyle/>
          <a:p>
            <a:pPr indent="0" marL="0">
              <a:buNone/>
            </a:pPr>
            <a:r>
              <a:rPr lang="en-US" sz="2400" dirty="0">
                <a:solidFill>
                  <a:schemeClr val="bg1"/>
                </a:solidFill>
              </a:rPr>
              <a:t>Sin state, Terraform cree que no existe nada y propone crearlo todo otra vez</a:t>
            </a:r>
            <a:endParaRPr lang="en-US" sz="2400" dirty="0"/>
          </a:p>
        </p:txBody>
      </p:sp>
      <p:sp>
        <p:nvSpPr>
          <p:cNvPr id="5" name="Text 3"/>
          <p:cNvSpPr txBox="1"/>
          <p:nvPr/>
        </p:nvSpPr>
        <p:spPr>
          <a:xfrm>
            <a:off x="548640" y="4206240"/>
            <a:ext cx="914400" cy="548640"/>
          </a:xfrm>
          <a:prstGeom prst="rect">
            <a:avLst/>
          </a:prstGeom>
          <a:noFill/>
          <a:ln/>
        </p:spPr>
        <p:txBody>
          <a:bodyPr wrap="square" lIns="0" tIns="0" rIns="0" bIns="0" rtlCol="0" anchor="t"/>
          <a:lstStyle/>
          <a:p>
            <a:pPr indent="0" marL="0">
              <a:buNone/>
            </a:pPr>
            <a:r>
              <a:rPr lang="en-US" sz="3000" b="1" dirty="0">
                <a:solidFill>
                  <a:schemeClr val="bg1"/>
                </a:solidFill>
                <a:latin typeface="JetBrains Mono" pitchFamily="34" charset="0"/>
                <a:ea typeface="JetBrains Mono" pitchFamily="34" charset="-122"/>
                <a:cs typeface="JetBrains Mono" pitchFamily="34" charset="-120"/>
              </a:rPr>
              <a:t>01</a:t>
            </a:r>
            <a:endParaRPr lang="en-US" sz="3000" dirty="0"/>
          </a:p>
        </p:txBody>
      </p:sp>
      <p:sp>
        <p:nvSpPr>
          <p:cNvPr id="6" name="Text 4"/>
          <p:cNvSpPr txBox="1"/>
          <p:nvPr/>
        </p:nvSpPr>
        <p:spPr>
          <a:xfrm>
            <a:off x="548640" y="4846320"/>
            <a:ext cx="3383280" cy="822960"/>
          </a:xfrm>
          <a:prstGeom prst="rect">
            <a:avLst/>
          </a:prstGeom>
          <a:noFill/>
          <a:ln/>
        </p:spPr>
        <p:txBody>
          <a:bodyPr wrap="square" lIns="0" tIns="0" rIns="0" bIns="0" rtlCol="0" anchor="t"/>
          <a:lstStyle/>
          <a:p>
            <a:pPr indent="0" marL="0">
              <a:buNone/>
            </a:pPr>
            <a:r>
              <a:rPr lang="en-US" sz="1900" b="1" dirty="0">
                <a:solidFill>
                  <a:schemeClr val="bg1"/>
                </a:solidFill>
              </a:rPr>
              <a:t>Recursos duplicados que se siguen cobrando</a:t>
            </a:r>
            <a:endParaRPr lang="en-US" sz="1900" dirty="0"/>
          </a:p>
        </p:txBody>
      </p:sp>
      <p:sp>
        <p:nvSpPr>
          <p:cNvPr id="7" name="Text 5"/>
          <p:cNvSpPr txBox="1"/>
          <p:nvPr/>
        </p:nvSpPr>
        <p:spPr>
          <a:xfrm>
            <a:off x="4297680" y="4206240"/>
            <a:ext cx="914400" cy="548640"/>
          </a:xfrm>
          <a:prstGeom prst="rect">
            <a:avLst/>
          </a:prstGeom>
          <a:noFill/>
          <a:ln/>
        </p:spPr>
        <p:txBody>
          <a:bodyPr wrap="square" lIns="0" tIns="0" rIns="0" bIns="0" rtlCol="0" anchor="t"/>
          <a:lstStyle/>
          <a:p>
            <a:pPr indent="0" marL="0">
              <a:buNone/>
            </a:pPr>
            <a:r>
              <a:rPr lang="en-US" sz="3000" b="1" dirty="0">
                <a:solidFill>
                  <a:schemeClr val="bg1"/>
                </a:solidFill>
                <a:latin typeface="JetBrains Mono" pitchFamily="34" charset="0"/>
                <a:ea typeface="JetBrains Mono" pitchFamily="34" charset="-122"/>
                <a:cs typeface="JetBrains Mono" pitchFamily="34" charset="-120"/>
              </a:rPr>
              <a:t>02</a:t>
            </a:r>
            <a:endParaRPr lang="en-US" sz="3000" dirty="0"/>
          </a:p>
        </p:txBody>
      </p:sp>
      <p:sp>
        <p:nvSpPr>
          <p:cNvPr id="8" name="Text 6"/>
          <p:cNvSpPr txBox="1"/>
          <p:nvPr/>
        </p:nvSpPr>
        <p:spPr>
          <a:xfrm>
            <a:off x="4297680" y="4846320"/>
            <a:ext cx="3383280" cy="822960"/>
          </a:xfrm>
          <a:prstGeom prst="rect">
            <a:avLst/>
          </a:prstGeom>
          <a:noFill/>
          <a:ln/>
        </p:spPr>
        <p:txBody>
          <a:bodyPr wrap="square" lIns="0" tIns="0" rIns="0" bIns="0" rtlCol="0" anchor="t"/>
          <a:lstStyle/>
          <a:p>
            <a:pPr indent="0" marL="0">
              <a:buNone/>
            </a:pPr>
            <a:r>
              <a:rPr lang="en-US" sz="1900" b="1" dirty="0">
                <a:solidFill>
                  <a:schemeClr val="bg1"/>
                </a:solidFill>
              </a:rPr>
              <a:t>Errores por nombres repetidos</a:t>
            </a:r>
            <a:endParaRPr lang="en-US" sz="1900" dirty="0"/>
          </a:p>
        </p:txBody>
      </p:sp>
      <p:sp>
        <p:nvSpPr>
          <p:cNvPr id="9" name="Text 7"/>
          <p:cNvSpPr txBox="1"/>
          <p:nvPr/>
        </p:nvSpPr>
        <p:spPr>
          <a:xfrm>
            <a:off x="8046720" y="4206240"/>
            <a:ext cx="914400" cy="548640"/>
          </a:xfrm>
          <a:prstGeom prst="rect">
            <a:avLst/>
          </a:prstGeom>
          <a:noFill/>
          <a:ln/>
        </p:spPr>
        <p:txBody>
          <a:bodyPr wrap="square" lIns="0" tIns="0" rIns="0" bIns="0" rtlCol="0" anchor="t"/>
          <a:lstStyle/>
          <a:p>
            <a:pPr indent="0" marL="0">
              <a:buNone/>
            </a:pPr>
            <a:r>
              <a:rPr lang="en-US" sz="3000" b="1" dirty="0">
                <a:solidFill>
                  <a:schemeClr val="bg1"/>
                </a:solidFill>
                <a:latin typeface="JetBrains Mono" pitchFamily="34" charset="0"/>
                <a:ea typeface="JetBrains Mono" pitchFamily="34" charset="-122"/>
                <a:cs typeface="JetBrains Mono" pitchFamily="34" charset="-120"/>
              </a:rPr>
              <a:t>03</a:t>
            </a:r>
            <a:endParaRPr lang="en-US" sz="3000" dirty="0"/>
          </a:p>
        </p:txBody>
      </p:sp>
      <p:sp>
        <p:nvSpPr>
          <p:cNvPr id="10" name="Text 8"/>
          <p:cNvSpPr txBox="1"/>
          <p:nvPr/>
        </p:nvSpPr>
        <p:spPr>
          <a:xfrm>
            <a:off x="8046720" y="4846320"/>
            <a:ext cx="3383280" cy="822960"/>
          </a:xfrm>
          <a:prstGeom prst="rect">
            <a:avLst/>
          </a:prstGeom>
          <a:noFill/>
          <a:ln/>
        </p:spPr>
        <p:txBody>
          <a:bodyPr wrap="square" lIns="0" tIns="0" rIns="0" bIns="0" rtlCol="0" anchor="t"/>
          <a:lstStyle/>
          <a:p>
            <a:pPr indent="0" marL="0">
              <a:buNone/>
            </a:pPr>
            <a:r>
              <a:rPr lang="en-US" sz="1900" b="1" dirty="0">
                <a:solidFill>
                  <a:schemeClr val="bg1"/>
                </a:solidFill>
              </a:rPr>
              <a:t>Recursos huérfanos que nadie destruye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STATE</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Drift: cuando la nube y el código dejan de coincidir</a:t>
            </a:r>
            <a:endParaRPr lang="en-US" sz="3000" dirty="0"/>
          </a:p>
        </p:txBody>
      </p:sp>
      <p:sp>
        <p:nvSpPr>
          <p:cNvPr id="4" name="drift-1"/>
          <p:cNvSpPr/>
          <p:nvPr/>
        </p:nvSpPr>
        <p:spPr>
          <a:xfrm>
            <a:off x="548640" y="1874520"/>
            <a:ext cx="5449824" cy="3017520"/>
          </a:xfrm>
          <a:prstGeom prst="roundRect">
            <a:avLst>
              <a:gd name="adj" fmla="val 3636"/>
            </a:avLst>
          </a:prstGeom>
          <a:solidFill>
            <a:schemeClr val="accent6"/>
          </a:solidFill>
          <a:ln/>
          <a:effectLst>
            <a:outerShdw sx="100000" sy="100000" kx="0" ky="0" algn="bl" rotWithShape="0" blurRad="76200" dist="25400" dir="5400000">
              <a:srgbClr val="14213D">
                <a:alpha val="12000"/>
              </a:srgbClr>
            </a:outerShdw>
          </a:effectLst>
        </p:spPr>
      </p:sp>
      <p:sp>
        <p:nvSpPr>
          <p:cNvPr id="5" name="Text 3"/>
          <p:cNvSpPr txBox="1"/>
          <p:nvPr/>
        </p:nvSpPr>
        <p:spPr>
          <a:xfrm>
            <a:off x="868680" y="2103120"/>
            <a:ext cx="4809744" cy="457200"/>
          </a:xfrm>
          <a:prstGeom prst="rect">
            <a:avLst/>
          </a:prstGeom>
          <a:noFill/>
          <a:ln/>
        </p:spPr>
        <p:txBody>
          <a:bodyPr wrap="square" lIns="0" tIns="0" rIns="0" bIns="0" rtlCol="0" anchor="t"/>
          <a:lstStyle/>
          <a:p>
            <a:pPr indent="0" marL="0">
              <a:buNone/>
            </a:pPr>
            <a:r>
              <a:rPr lang="en-US" sz="2100" b="1" dirty="0">
                <a:solidFill>
                  <a:srgbClr val="B34A12"/>
                </a:solidFill>
              </a:rPr>
              <a:t>Cómo aparece</a:t>
            </a:r>
            <a:endParaRPr lang="en-US" sz="2100" dirty="0"/>
          </a:p>
        </p:txBody>
      </p:sp>
      <p:sp>
        <p:nvSpPr>
          <p:cNvPr id="6" name="Text 4"/>
          <p:cNvSpPr txBox="1"/>
          <p:nvPr/>
        </p:nvSpPr>
        <p:spPr>
          <a:xfrm>
            <a:off x="868680" y="2697480"/>
            <a:ext cx="4809744"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Alguien cambia algo en la consola por una urgencia</a:t>
            </a:r>
            <a:endParaRPr lang="en-US" sz="1700" dirty="0"/>
          </a:p>
          <a:p>
            <a:pPr marL="342900" indent="-342900">
              <a:spcAft>
                <a:spcPts val="1000"/>
              </a:spcAft>
              <a:buSzPct val="100000"/>
              <a:buChar char="•"/>
            </a:pPr>
            <a:r>
              <a:rPr lang="en-US" sz="1700" dirty="0">
                <a:solidFill>
                  <a:schemeClr val="tx1"/>
                </a:solidFill>
              </a:rPr>
              <a:t>Otro script toca el mismo recurso</a:t>
            </a:r>
            <a:endParaRPr lang="en-US" sz="1700" dirty="0"/>
          </a:p>
          <a:p>
            <a:pPr marL="342900" indent="-342900">
              <a:spcAft>
                <a:spcPts val="1000"/>
              </a:spcAft>
              <a:buSzPct val="100000"/>
              <a:buChar char="•"/>
            </a:pPr>
            <a:r>
              <a:rPr lang="en-US" sz="1700" dirty="0">
                <a:solidFill>
                  <a:schemeClr val="tx1"/>
                </a:solidFill>
              </a:rPr>
              <a:t>AWS cambia un valor por defecto</a:t>
            </a:r>
            <a:endParaRPr lang="en-US" sz="1700" dirty="0"/>
          </a:p>
        </p:txBody>
      </p:sp>
      <p:sp>
        <p:nvSpPr>
          <p:cNvPr id="7" name="drift-2"/>
          <p:cNvSpPr/>
          <p:nvPr/>
        </p:nvSpPr>
        <p:spPr>
          <a:xfrm>
            <a:off x="6190488" y="1874520"/>
            <a:ext cx="5449824" cy="3017520"/>
          </a:xfrm>
          <a:prstGeom prst="roundRect">
            <a:avLst>
              <a:gd name="adj" fmla="val 3636"/>
            </a:avLst>
          </a:prstGeom>
          <a:solidFill>
            <a:schemeClr val="accent6"/>
          </a:solidFill>
          <a:ln/>
          <a:effectLst>
            <a:outerShdw sx="100000" sy="100000" kx="0" ky="0" algn="bl" rotWithShape="0" blurRad="76200" dist="25400" dir="5400000">
              <a:srgbClr val="14213D">
                <a:alpha val="12000"/>
              </a:srgbClr>
            </a:outerShdw>
          </a:effectLst>
        </p:spPr>
      </p:sp>
      <p:sp>
        <p:nvSpPr>
          <p:cNvPr id="8" name="Text 6"/>
          <p:cNvSpPr txBox="1"/>
          <p:nvPr/>
        </p:nvSpPr>
        <p:spPr>
          <a:xfrm>
            <a:off x="6510528" y="2103120"/>
            <a:ext cx="4809744" cy="457200"/>
          </a:xfrm>
          <a:prstGeom prst="rect">
            <a:avLst/>
          </a:prstGeom>
          <a:noFill/>
          <a:ln/>
        </p:spPr>
        <p:txBody>
          <a:bodyPr wrap="square" lIns="0" tIns="0" rIns="0" bIns="0" rtlCol="0" anchor="t"/>
          <a:lstStyle/>
          <a:p>
            <a:pPr indent="0" marL="0">
              <a:buNone/>
            </a:pPr>
            <a:r>
              <a:rPr lang="en-US" sz="2100" b="1" dirty="0">
                <a:solidFill>
                  <a:srgbClr val="2D6CDF"/>
                </a:solidFill>
              </a:rPr>
              <a:t>Qué hace Terraform</a:t>
            </a:r>
            <a:endParaRPr lang="en-US" sz="2100" dirty="0"/>
          </a:p>
        </p:txBody>
      </p:sp>
      <p:sp>
        <p:nvSpPr>
          <p:cNvPr id="9" name="Text 7"/>
          <p:cNvSpPr txBox="1"/>
          <p:nvPr/>
        </p:nvSpPr>
        <p:spPr>
          <a:xfrm>
            <a:off x="6510528" y="2697480"/>
            <a:ext cx="4809744"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El plan lo detecta y propone volver al código</a:t>
            </a:r>
            <a:endParaRPr lang="en-US" sz="1700" dirty="0"/>
          </a:p>
          <a:p>
            <a:pPr marL="342900" indent="-342900">
              <a:spcAft>
                <a:spcPts val="1000"/>
              </a:spcAft>
              <a:buSzPct val="100000"/>
              <a:buChar char="•"/>
            </a:pPr>
            <a:r>
              <a:rPr lang="en-US" sz="1700" dirty="0">
                <a:solidFill>
                  <a:schemeClr val="tx1"/>
                </a:solidFill>
              </a:rPr>
              <a:t>El apply deshace el cambio manual</a:t>
            </a:r>
            <a:endParaRPr lang="en-US" sz="1700" dirty="0"/>
          </a:p>
          <a:p>
            <a:pPr marL="342900" indent="-342900">
              <a:spcAft>
                <a:spcPts val="1000"/>
              </a:spcAft>
              <a:buSzPct val="100000"/>
              <a:buChar char="•"/>
            </a:pPr>
            <a:r>
              <a:rPr lang="en-US" sz="1700" dirty="0">
                <a:solidFill>
                  <a:schemeClr val="tx1"/>
                </a:solidFill>
              </a:rPr>
              <a:t>plan -refresh-only lo muestra sin corregir</a:t>
            </a:r>
            <a:endParaRPr lang="en-US" sz="1700" dirty="0"/>
          </a:p>
        </p:txBody>
      </p:sp>
      <p:sp>
        <p:nvSpPr>
          <p:cNvPr id="10" name="pie-regla"/>
          <p:cNvSpPr/>
          <p:nvPr/>
        </p:nvSpPr>
        <p:spPr>
          <a:xfrm>
            <a:off x="548640" y="5166360"/>
            <a:ext cx="11094415" cy="777240"/>
          </a:xfrm>
          <a:prstGeom prst="roundRect">
            <a:avLst>
              <a:gd name="adj" fmla="val 14118"/>
            </a:avLst>
          </a:prstGeom>
          <a:solidFill>
            <a:srgbClr val="14213D"/>
          </a:solidFill>
          <a:ln/>
          <a:effectLst>
            <a:outerShdw sx="100000" sy="100000" kx="0" ky="0" algn="bl" rotWithShape="0" blurRad="76200" dist="25400" dir="5400000">
              <a:srgbClr val="14213D">
                <a:alpha val="12000"/>
              </a:srgbClr>
            </a:outerShdw>
          </a:effectLst>
        </p:spPr>
      </p:sp>
      <p:sp>
        <p:nvSpPr>
          <p:cNvPr id="11" name="Text 9"/>
          <p:cNvSpPr txBox="1"/>
          <p:nvPr/>
        </p:nvSpPr>
        <p:spPr>
          <a:xfrm>
            <a:off x="914400" y="5166360"/>
            <a:ext cx="10362895" cy="777240"/>
          </a:xfrm>
          <a:prstGeom prst="rect">
            <a:avLst/>
          </a:prstGeom>
          <a:noFill/>
          <a:ln/>
        </p:spPr>
        <p:txBody>
          <a:bodyPr wrap="square" lIns="0" tIns="0" rIns="0" bIns="0" rtlCol="0" anchor="ctr"/>
          <a:lstStyle/>
          <a:p>
            <a:pPr indent="0" marL="0">
              <a:buNone/>
            </a:pPr>
            <a:r>
              <a:rPr lang="en-US" sz="2000" b="1" dirty="0">
                <a:solidFill>
                  <a:schemeClr val="bg1"/>
                </a:solidFill>
              </a:rPr>
              <a:t>Regla de equipo: si se gestiona con Terraform, se cambia con Terraform</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DECIDIR</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Cuándo sí usar Terraform y cuándo no</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5550408"/>
                <a:gridCol w="5541264"/>
              </a:tblGrid>
              <a:tr h="566928">
                <a:tc>
                  <a:txBody>
                    <a:bodyPr/>
                    <a:lstStyle/>
                    <a:p>
                      <a:pPr indent="0" marL="0">
                        <a:buNone/>
                      </a:pPr>
                      <a:r>
                        <a:rPr lang="en-US" sz="1500" b="1" dirty="0">
                          <a:solidFill>
                            <a:schemeClr val="bg1"/>
                          </a:solidFill>
                        </a:rPr>
                        <a:t>Úsalo cuando…</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2D6CDF"/>
                    </a:solidFill>
                  </a:tcPr>
                </a:tc>
                <a:tc>
                  <a:txBody>
                    <a:bodyPr/>
                    <a:lstStyle/>
                    <a:p>
                      <a:pPr indent="0" marL="0">
                        <a:buNone/>
                      </a:pPr>
                      <a:r>
                        <a:rPr lang="en-US" sz="1500" b="1" dirty="0">
                          <a:solidFill>
                            <a:schemeClr val="bg1"/>
                          </a:solidFill>
                        </a:rPr>
                        <a:t>Evítalo o compleméntalo cuando…</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B34A12"/>
                    </a:solidFill>
                  </a:tcPr>
                </a:tc>
              </a:tr>
              <a:tr h="566928">
                <a:tc>
                  <a:txBody>
                    <a:bodyPr/>
                    <a:lstStyle/>
                    <a:p>
                      <a:pPr indent="0" marL="0">
                        <a:buNone/>
                      </a:pPr>
                      <a:r>
                        <a:rPr lang="en-US" sz="1500" dirty="0">
                          <a:solidFill>
                            <a:schemeClr val="tx1"/>
                          </a:solidFill>
                        </a:rPr>
                        <a:t>Los ambientes deben ser iguales (dev, QA, producción, clientes)</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Hay que configurar software dentro del servidor → Ansible, imágenes, contenedores</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500" dirty="0">
                          <a:solidFill>
                            <a:schemeClr val="tx1"/>
                          </a:solidFill>
                        </a:rPr>
                        <a:t>Varias personas cambian la infraestructura y necesitas revisión</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Despliegas versiones de la app varias veces al día → CI/CD, Helm, ECS</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500" dirty="0">
                          <a:solidFill>
                            <a:schemeClr val="tx1"/>
                          </a:solidFill>
                        </a:rPr>
                        <a:t>Usas varios proveedores (AWS + GitHub + Cloudflare + Datadog)</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Los “recursos” son datos del negocio (usuarios, filas, archivos subidos)</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500" dirty="0">
                          <a:solidFill>
                            <a:schemeClr val="tx1"/>
                          </a:solidFill>
                        </a:rPr>
                        <a:t>Necesitas auditoría y trazabilidad de cada cambio</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Es un experimento de una tarde que se borrará hoy</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500" dirty="0">
                          <a:solidFill>
                            <a:schemeClr val="tx1"/>
                          </a:solidFill>
                        </a:rPr>
                        <a:t>La infraestructura vive meses o años</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El equipo es 100 % AWS y ya domina CloudFormation o CDK</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500" dirty="0">
                          <a:solidFill>
                            <a:schemeClr val="tx1"/>
                          </a:solidFill>
                        </a:rPr>
                        <a:t>Quieres estimar costo y seguridad antes de crear</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Necesitas lógica compleja y pruebas en el lenguaje del equipo → CDK o Pulumi</a:t>
                      </a:r>
                      <a:endParaRPr lang="en-US" sz="15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COSTO</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Saber el costo antes de crear, no en la factura</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675120" cy="914400"/>
        </p:xfrm>
        <a:graphic>
          <a:graphicData uri="http://schemas.openxmlformats.org/drawingml/2006/table">
            <a:tbl>
              <a:tblPr/>
              <a:tblGrid>
                <a:gridCol w="2240280"/>
                <a:gridCol w="2057400"/>
                <a:gridCol w="2377440"/>
              </a:tblGrid>
              <a:tr h="566928">
                <a:tc>
                  <a:txBody>
                    <a:bodyPr/>
                    <a:lstStyle/>
                    <a:p>
                      <a:pPr indent="0" marL="0">
                        <a:buNone/>
                      </a:pPr>
                      <a:r>
                        <a:rPr lang="en-US" sz="1300" b="1" dirty="0">
                          <a:solidFill>
                            <a:schemeClr val="bg1"/>
                          </a:solidFill>
                        </a:rPr>
                        <a:t>Herramienta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Cuándo informa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Limitación</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accent2"/>
                          </a:solidFill>
                        </a:rPr>
                        <a:t>Infracost (elegida)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Antes: lee el código en cada PR</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Cuenta de Infracost; el uso variable se supone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300" b="1" dirty="0">
                          <a:solidFill>
                            <a:schemeClr val="tx1"/>
                          </a:solidFill>
                        </a:rPr>
                        <a:t>AWS Pricing Calculator</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Antes, a mano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No lee código, se desactualiza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300" b="1" dirty="0">
                          <a:solidFill>
                            <a:schemeClr val="tx1"/>
                          </a:solidFill>
                        </a:rPr>
                        <a:t>HCP Terraform</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Antes, en su plataforma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Solo en HCP Terraform; menos recursos</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300" b="1" dirty="0">
                          <a:solidFill>
                            <a:schemeClr val="tx1"/>
                          </a:solidFill>
                        </a:rPr>
                        <a:t>env0, Spacelift, Scalr</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Antes, en su plataforma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De pago; adoptar la plataforma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566928">
                <a:tc>
                  <a:txBody>
                    <a:bodyPr/>
                    <a:lstStyle/>
                    <a:p>
                      <a:pPr indent="0" marL="0">
                        <a:buNone/>
                      </a:pPr>
                      <a:r>
                        <a:rPr lang="en-US" sz="1300" b="1" dirty="0">
                          <a:solidFill>
                            <a:schemeClr val="tx1"/>
                          </a:solidFill>
                        </a:rPr>
                        <a:t>AWS Cost Explorer / Budgets</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accent1"/>
                          </a:solidFill>
                        </a:rPr>
                        <a:t>Después: lo ya gastado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Llega tarde: el recurso ya existe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5" name="stat-total"/>
          <p:cNvSpPr/>
          <p:nvPr/>
        </p:nvSpPr>
        <p:spPr>
          <a:xfrm>
            <a:off x="7498080" y="1828800"/>
            <a:ext cx="4144975" cy="1600200"/>
          </a:xfrm>
          <a:prstGeom prst="roundRect">
            <a:avLst>
              <a:gd name="adj" fmla="val 6857"/>
            </a:avLst>
          </a:prstGeom>
          <a:solidFill>
            <a:srgbClr val="14213D"/>
          </a:solidFill>
          <a:ln/>
          <a:effectLst>
            <a:outerShdw sx="100000" sy="100000" kx="0" ky="0" algn="bl" rotWithShape="0" blurRad="76200" dist="25400" dir="5400000">
              <a:srgbClr val="14213D">
                <a:alpha val="12000"/>
              </a:srgbClr>
            </a:outerShdw>
          </a:effectLst>
        </p:spPr>
      </p:sp>
      <p:sp>
        <p:nvSpPr>
          <p:cNvPr id="6" name="Text 3"/>
          <p:cNvSpPr txBox="1"/>
          <p:nvPr/>
        </p:nvSpPr>
        <p:spPr>
          <a:xfrm>
            <a:off x="7772400" y="1938528"/>
            <a:ext cx="3657600" cy="731520"/>
          </a:xfrm>
          <a:prstGeom prst="rect">
            <a:avLst/>
          </a:prstGeom>
          <a:noFill/>
          <a:ln/>
        </p:spPr>
        <p:txBody>
          <a:bodyPr wrap="square" lIns="0" tIns="0" rIns="0" bIns="0" rtlCol="0" anchor="t"/>
          <a:lstStyle/>
          <a:p>
            <a:pPr indent="0" marL="0">
              <a:buNone/>
            </a:pPr>
            <a:r>
              <a:rPr lang="en-US" sz="3600" b="1" dirty="0">
                <a:solidFill>
                  <a:schemeClr val="bg1"/>
                </a:solidFill>
              </a:rPr>
              <a:t>$14.45 / mes</a:t>
            </a:r>
            <a:endParaRPr lang="en-US" sz="3600" dirty="0"/>
          </a:p>
        </p:txBody>
      </p:sp>
      <p:sp>
        <p:nvSpPr>
          <p:cNvPr id="7" name="Text 4"/>
          <p:cNvSpPr txBox="1"/>
          <p:nvPr/>
        </p:nvSpPr>
        <p:spPr>
          <a:xfrm>
            <a:off x="7772400" y="2670048"/>
            <a:ext cx="3657600" cy="640080"/>
          </a:xfrm>
          <a:prstGeom prst="rect">
            <a:avLst/>
          </a:prstGeom>
          <a:noFill/>
          <a:ln/>
        </p:spPr>
        <p:txBody>
          <a:bodyPr wrap="square" lIns="0" tIns="0" rIns="0" bIns="0" rtlCol="0" anchor="t"/>
          <a:lstStyle/>
          <a:p>
            <a:pPr indent="0" marL="0">
              <a:buNone/>
            </a:pPr>
            <a:r>
              <a:rPr lang="en-US" sz="1300" dirty="0">
                <a:solidFill>
                  <a:schemeClr val="accent5"/>
                </a:solidFill>
              </a:rPr>
              <a:t>Lab de un alumno con 10 M de visitas al mes (infracost scan)</a:t>
            </a:r>
            <a:endParaRPr lang="en-US" sz="1300" dirty="0"/>
          </a:p>
        </p:txBody>
      </p:sp>
      <p:sp>
        <p:nvSpPr>
          <p:cNvPr id="8" name="Text 5"/>
          <p:cNvSpPr txBox="1"/>
          <p:nvPr/>
        </p:nvSpPr>
        <p:spPr>
          <a:xfrm>
            <a:off x="7498080" y="3611880"/>
            <a:ext cx="4114800" cy="320040"/>
          </a:xfrm>
          <a:prstGeom prst="rect">
            <a:avLst/>
          </a:prstGeom>
          <a:noFill/>
          <a:ln/>
        </p:spPr>
        <p:txBody>
          <a:bodyPr wrap="square" lIns="0" tIns="0" rIns="0" bIns="0" rtlCol="0" anchor="t"/>
          <a:lstStyle/>
          <a:p>
            <a:pPr indent="0" marL="0">
              <a:buNone/>
            </a:pPr>
            <a:r>
              <a:rPr lang="en-US" sz="1300" b="1" dirty="0">
                <a:solidFill>
                  <a:schemeClr val="tx2"/>
                </a:solidFill>
              </a:rPr>
              <a:t>El mismo cambio, medido antes de hacerlo</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498080" y="3977640"/>
          <a:ext cx="4144975" cy="914400"/>
        </p:xfrm>
        <a:graphic>
          <a:graphicData uri="http://schemas.openxmlformats.org/drawingml/2006/table">
            <a:tbl>
              <a:tblPr/>
              <a:tblGrid>
                <a:gridCol w="2468880"/>
                <a:gridCol w="1673352"/>
              </a:tblGrid>
              <a:tr h="457200">
                <a:tc>
                  <a:txBody>
                    <a:bodyPr/>
                    <a:lstStyle/>
                    <a:p>
                      <a:pPr indent="0" marL="0">
                        <a:buNone/>
                      </a:pPr>
                      <a:r>
                        <a:rPr lang="en-US" sz="1300" b="1" dirty="0">
                          <a:solidFill>
                            <a:schemeClr val="bg1"/>
                          </a:solidFill>
                        </a:rPr>
                        <a:t>Cambio (infracost diff)</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Variación</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latin typeface="JetBrains Mono" pitchFamily="34" charset="0"/>
                          <a:ea typeface="JetBrains Mono" pitchFamily="34" charset="-122"/>
                          <a:cs typeface="JetBrains Mono" pitchFamily="34" charset="-120"/>
                        </a:rPr>
                        <a:t>memoria_mb = 1024</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accent1"/>
                          </a:solidFill>
                        </a:rPr>
                        <a:t>+$29  (+202 %)</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dirty="0">
                          <a:solidFill>
                            <a:schemeClr val="tx1"/>
                          </a:solidFill>
                        </a:rPr>
                        <a:t>DynamoDB </a:t>
                      </a:r>
                      <a:pPr indent="0" marL="0">
                        <a:buNone/>
                      </a:pPr>
                      <a:r>
                        <a:rPr lang="en-US" sz="1300" dirty="0">
                          <a:solidFill>
                            <a:schemeClr val="tx1"/>
                          </a:solidFill>
                          <a:latin typeface="JetBrains Mono" pitchFamily="34" charset="0"/>
                          <a:ea typeface="JetBrains Mono" pitchFamily="34" charset="-122"/>
                          <a:cs typeface="JetBrains Mono" pitchFamily="34" charset="-120"/>
                        </a:rPr>
                        <a:t>PROVISIONED</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tx1"/>
                          </a:solidFill>
                        </a:rPr>
                        <a:t>+$0  (+2 %)</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dirty="0">
                          <a:solidFill>
                            <a:schemeClr val="tx1"/>
                          </a:solidFill>
                        </a:rPr>
                        <a:t>Mismo sitio en EC2 </a:t>
                      </a:r>
                      <a:pPr indent="0" marL="0">
                        <a:buNone/>
                      </a:pPr>
                      <a:r>
                        <a:rPr lang="en-US" sz="1300" dirty="0">
                          <a:solidFill>
                            <a:schemeClr val="tx1"/>
                          </a:solidFill>
                          <a:latin typeface="JetBrains Mono" pitchFamily="34" charset="0"/>
                          <a:ea typeface="JetBrains Mono" pitchFamily="34" charset="-122"/>
                          <a:cs typeface="JetBrains Mono" pitchFamily="34" charset="-120"/>
                        </a:rPr>
                        <a:t>t3.micro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accent1"/>
                          </a:solidFill>
                        </a:rPr>
                        <a:t>+$8  (+57 %)</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4"/>
                </a:solidFill>
                <a:latin typeface="JetBrains Mono" pitchFamily="34" charset="0"/>
                <a:ea typeface="JetBrains Mono" pitchFamily="34" charset="-122"/>
                <a:cs typeface="JetBrains Mono" pitchFamily="34" charset="-120"/>
              </a:rPr>
              <a:t>PARA CONVERSAR</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bg1"/>
                </a:solidFill>
              </a:rPr>
              <a:t>Antes del laboratorio</a:t>
            </a:r>
            <a:endParaRPr lang="en-US" sz="3000" dirty="0"/>
          </a:p>
        </p:txBody>
      </p:sp>
      <p:sp>
        <p:nvSpPr>
          <p:cNvPr id="4" name="Text 2"/>
          <p:cNvSpPr txBox="1"/>
          <p:nvPr/>
        </p:nvSpPr>
        <p:spPr>
          <a:xfrm>
            <a:off x="548640" y="2011680"/>
            <a:ext cx="1097280" cy="914400"/>
          </a:xfrm>
          <a:prstGeom prst="rect">
            <a:avLst/>
          </a:prstGeom>
          <a:noFill/>
          <a:ln/>
        </p:spPr>
        <p:txBody>
          <a:bodyPr wrap="square" lIns="0" tIns="0" rIns="0" bIns="0" rtlCol="0" anchor="t"/>
          <a:lstStyle/>
          <a:p>
            <a:pPr indent="0" marL="0">
              <a:buNone/>
            </a:pPr>
            <a:r>
              <a:rPr lang="en-US" sz="4400" b="1" dirty="0">
                <a:solidFill>
                  <a:schemeClr val="accent4"/>
                </a:solidFill>
                <a:latin typeface="JetBrains Mono" pitchFamily="34" charset="0"/>
                <a:ea typeface="JetBrains Mono" pitchFamily="34" charset="-122"/>
                <a:cs typeface="JetBrains Mono" pitchFamily="34" charset="-120"/>
              </a:rPr>
              <a:t>01</a:t>
            </a:r>
            <a:endParaRPr lang="en-US" sz="4400" dirty="0"/>
          </a:p>
        </p:txBody>
      </p:sp>
      <p:sp>
        <p:nvSpPr>
          <p:cNvPr id="5" name="Text 3"/>
          <p:cNvSpPr txBox="1"/>
          <p:nvPr/>
        </p:nvSpPr>
        <p:spPr>
          <a:xfrm>
            <a:off x="1828800" y="2103120"/>
            <a:ext cx="9601200" cy="1463040"/>
          </a:xfrm>
          <a:prstGeom prst="rect">
            <a:avLst/>
          </a:prstGeom>
          <a:noFill/>
          <a:ln/>
        </p:spPr>
        <p:txBody>
          <a:bodyPr wrap="square" lIns="0" tIns="0" rIns="0" bIns="0" rtlCol="0" anchor="t"/>
          <a:lstStyle/>
          <a:p>
            <a:pPr indent="0" marL="0">
              <a:buNone/>
            </a:pPr>
            <a:r>
              <a:rPr lang="en-US" sz="2600" dirty="0">
                <a:solidFill>
                  <a:schemeClr val="bg1"/>
                </a:solidFill>
              </a:rPr>
              <a:t>¿Quién debería aprobar un </a:t>
            </a:r>
            <a:pPr indent="0" marL="0">
              <a:buNone/>
            </a:pPr>
            <a:r>
              <a:rPr lang="en-US" sz="2600" dirty="0">
                <a:solidFill>
                  <a:schemeClr val="bg1"/>
                </a:solidFill>
                <a:latin typeface="JetBrains Mono" pitchFamily="34" charset="0"/>
                <a:ea typeface="JetBrains Mono" pitchFamily="34" charset="-122"/>
                <a:cs typeface="JetBrains Mono" pitchFamily="34" charset="-120"/>
              </a:rPr>
              <a:t>terraform apply</a:t>
            </a:r>
            <a:pPr indent="0" marL="0">
              <a:buNone/>
            </a:pPr>
            <a:r>
              <a:rPr lang="en-US" sz="2600" dirty="0">
                <a:solidFill>
                  <a:schemeClr val="bg1"/>
                </a:solidFill>
              </a:rPr>
              <a:t> a producción: quien escribió el código, otro ingeniero o alguien de negocio?</a:t>
            </a:r>
            <a:endParaRPr lang="en-US" sz="2600" dirty="0"/>
          </a:p>
        </p:txBody>
      </p:sp>
      <p:sp>
        <p:nvSpPr>
          <p:cNvPr id="6" name="Text 4"/>
          <p:cNvSpPr txBox="1"/>
          <p:nvPr/>
        </p:nvSpPr>
        <p:spPr>
          <a:xfrm>
            <a:off x="548640" y="3931920"/>
            <a:ext cx="1097280" cy="914400"/>
          </a:xfrm>
          <a:prstGeom prst="rect">
            <a:avLst/>
          </a:prstGeom>
          <a:noFill/>
          <a:ln/>
        </p:spPr>
        <p:txBody>
          <a:bodyPr wrap="square" lIns="0" tIns="0" rIns="0" bIns="0" rtlCol="0" anchor="t"/>
          <a:lstStyle/>
          <a:p>
            <a:pPr indent="0" marL="0">
              <a:buNone/>
            </a:pPr>
            <a:r>
              <a:rPr lang="en-US" sz="4400" b="1" dirty="0">
                <a:solidFill>
                  <a:schemeClr val="accent4"/>
                </a:solidFill>
                <a:latin typeface="JetBrains Mono" pitchFamily="34" charset="0"/>
                <a:ea typeface="JetBrains Mono" pitchFamily="34" charset="-122"/>
                <a:cs typeface="JetBrains Mono" pitchFamily="34" charset="-120"/>
              </a:rPr>
              <a:t>02</a:t>
            </a:r>
            <a:endParaRPr lang="en-US" sz="4400" dirty="0"/>
          </a:p>
        </p:txBody>
      </p:sp>
      <p:sp>
        <p:nvSpPr>
          <p:cNvPr id="7" name="Text 5"/>
          <p:cNvSpPr txBox="1"/>
          <p:nvPr/>
        </p:nvSpPr>
        <p:spPr>
          <a:xfrm>
            <a:off x="1828800" y="4023360"/>
            <a:ext cx="9601200" cy="1463040"/>
          </a:xfrm>
          <a:prstGeom prst="rect">
            <a:avLst/>
          </a:prstGeom>
          <a:noFill/>
          <a:ln/>
        </p:spPr>
        <p:txBody>
          <a:bodyPr wrap="square" lIns="0" tIns="0" rIns="0" bIns="0" rtlCol="0" anchor="t"/>
          <a:lstStyle/>
          <a:p>
            <a:pPr indent="0" marL="0">
              <a:buNone/>
            </a:pPr>
            <a:r>
              <a:rPr lang="en-US" sz="2600" dirty="0">
                <a:solidFill>
                  <a:schemeClr val="bg1"/>
                </a:solidFill>
              </a:rPr>
              <a:t>Un cambio aumenta la factura mensual en 30 %. ¿Debe bloquear el pull request o solo avisar?</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JetBrains Mono"/>
                <a:ea typeface="JetBrains Mono"/>
                <a:cs typeface="JetBrains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LABORATORIO</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Crear, cambiar y destruir en una cuenta compartida</a:t>
            </a:r>
            <a:endParaRPr lang="en-US" sz="3000" dirty="0"/>
          </a:p>
        </p:txBody>
      </p:sp>
      <p:sp>
        <p:nvSpPr>
          <p:cNvPr id="4" name="Text 2"/>
          <p:cNvSpPr txBox="1"/>
          <p:nvPr/>
        </p:nvSpPr>
        <p:spPr>
          <a:xfrm>
            <a:off x="548640" y="1783080"/>
            <a:ext cx="5486400" cy="365760"/>
          </a:xfrm>
          <a:prstGeom prst="rect">
            <a:avLst/>
          </a:prstGeom>
          <a:noFill/>
          <a:ln/>
        </p:spPr>
        <p:txBody>
          <a:bodyPr wrap="square" lIns="0" tIns="0" rIns="0" bIns="0" rtlCol="0" anchor="t"/>
          <a:lstStyle/>
          <a:p>
            <a:pPr indent="0" marL="0">
              <a:buNone/>
            </a:pPr>
            <a:r>
              <a:rPr lang="en-US" sz="1500" b="1" dirty="0">
                <a:solidFill>
                  <a:schemeClr val="tx2"/>
                </a:solidFill>
              </a:rPr>
              <a:t>Lo que crea cada alumno (ejemplo: alumno perez)</a:t>
            </a:r>
            <a:endParaRPr lang="en-US" sz="1500" dirty="0"/>
          </a:p>
        </p:txBody>
      </p:sp>
      <p:sp>
        <p:nvSpPr>
          <p:cNvPr id="5" name="recurso-1"/>
          <p:cNvSpPr/>
          <p:nvPr/>
        </p:nvSpPr>
        <p:spPr>
          <a:xfrm>
            <a:off x="548640" y="2240280"/>
            <a:ext cx="5760720" cy="1115568"/>
          </a:xfrm>
          <a:prstGeom prst="roundRect">
            <a:avLst>
              <a:gd name="adj" fmla="val 9836"/>
            </a:avLst>
          </a:prstGeom>
          <a:solidFill>
            <a:schemeClr val="accent6"/>
          </a:solidFill>
          <a:ln/>
          <a:effectLst>
            <a:outerShdw sx="100000" sy="100000" kx="0" ky="0" algn="bl" rotWithShape="0" blurRad="76200" dist="25400" dir="5400000">
              <a:srgbClr val="14213D">
                <a:alpha val="12000"/>
              </a:srgbClr>
            </a:outerShdw>
          </a:effectLst>
        </p:spPr>
      </p:sp>
      <p:sp>
        <p:nvSpPr>
          <p:cNvPr id="6" name="Text 4"/>
          <p:cNvSpPr txBox="1"/>
          <p:nvPr/>
        </p:nvSpPr>
        <p:spPr>
          <a:xfrm>
            <a:off x="822960" y="2359152"/>
            <a:ext cx="5212080" cy="365760"/>
          </a:xfrm>
          <a:prstGeom prst="rect">
            <a:avLst/>
          </a:prstGeom>
          <a:noFill/>
          <a:ln/>
        </p:spPr>
        <p:txBody>
          <a:bodyPr wrap="square" lIns="0" tIns="0" rIns="0" bIns="0" rtlCol="0" anchor="t"/>
          <a:lstStyle/>
          <a:p>
            <a:pPr indent="0" marL="0">
              <a:buNone/>
            </a:pPr>
            <a:r>
              <a:rPr lang="en-US" sz="1800" b="1" dirty="0">
                <a:solidFill>
                  <a:schemeClr val="tx1"/>
                </a:solidFill>
              </a:rPr>
              <a:t>Lambda + URL pública</a:t>
            </a:r>
            <a:endParaRPr lang="en-US" sz="1800" dirty="0"/>
          </a:p>
        </p:txBody>
      </p:sp>
      <p:sp>
        <p:nvSpPr>
          <p:cNvPr id="7" name="Text 5"/>
          <p:cNvSpPr txBox="1"/>
          <p:nvPr/>
        </p:nvSpPr>
        <p:spPr>
          <a:xfrm>
            <a:off x="822960" y="2743200"/>
            <a:ext cx="5212080" cy="274320"/>
          </a:xfrm>
          <a:prstGeom prst="rect">
            <a:avLst/>
          </a:prstGeom>
          <a:noFill/>
          <a:ln/>
        </p:spPr>
        <p:txBody>
          <a:bodyPr wrap="square" lIns="0" tIns="0" rIns="0" bIns="0" rtlCol="0" anchor="t"/>
          <a:lstStyle/>
          <a:p>
            <a:pPr indent="0" marL="0">
              <a:buNone/>
            </a:pPr>
            <a:r>
              <a:rPr lang="en-US" sz="1300" dirty="0">
                <a:solidFill>
                  <a:schemeClr val="accent2"/>
                </a:solidFill>
                <a:latin typeface="JetBrains Mono" pitchFamily="34" charset="0"/>
                <a:ea typeface="JetBrains Mono" pitchFamily="34" charset="-122"/>
                <a:cs typeface="JetBrains Mono" pitchFamily="34" charset="-120"/>
              </a:rPr>
              <a:t>m2-perez-web</a:t>
            </a:r>
            <a:endParaRPr lang="en-US" sz="1300" dirty="0"/>
          </a:p>
        </p:txBody>
      </p:sp>
      <p:sp>
        <p:nvSpPr>
          <p:cNvPr id="8" name="Text 6"/>
          <p:cNvSpPr txBox="1"/>
          <p:nvPr/>
        </p:nvSpPr>
        <p:spPr>
          <a:xfrm>
            <a:off x="822960" y="3017520"/>
            <a:ext cx="5212080" cy="274320"/>
          </a:xfrm>
          <a:prstGeom prst="rect">
            <a:avLst/>
          </a:prstGeom>
          <a:noFill/>
          <a:ln/>
        </p:spPr>
        <p:txBody>
          <a:bodyPr wrap="square" lIns="0" tIns="0" rIns="0" bIns="0" rtlCol="0" anchor="t"/>
          <a:lstStyle/>
          <a:p>
            <a:pPr indent="0" marL="0">
              <a:buNone/>
            </a:pPr>
            <a:r>
              <a:rPr lang="en-US" sz="1300" dirty="0">
                <a:solidFill>
                  <a:schemeClr val="tx2"/>
                </a:solidFill>
              </a:rPr>
              <a:t>La página web y su grupo de logs</a:t>
            </a:r>
            <a:endParaRPr lang="en-US" sz="1300" dirty="0"/>
          </a:p>
        </p:txBody>
      </p:sp>
      <p:sp>
        <p:nvSpPr>
          <p:cNvPr id="9" name="recurso-2"/>
          <p:cNvSpPr/>
          <p:nvPr/>
        </p:nvSpPr>
        <p:spPr>
          <a:xfrm>
            <a:off x="548640" y="3502152"/>
            <a:ext cx="5760720" cy="1115568"/>
          </a:xfrm>
          <a:prstGeom prst="roundRect">
            <a:avLst>
              <a:gd name="adj" fmla="val 9836"/>
            </a:avLst>
          </a:prstGeom>
          <a:solidFill>
            <a:schemeClr val="accent6"/>
          </a:solidFill>
          <a:ln/>
          <a:effectLst>
            <a:outerShdw sx="100000" sy="100000" kx="0" ky="0" algn="bl" rotWithShape="0" blurRad="76200" dist="25400" dir="5400000">
              <a:srgbClr val="14213D">
                <a:alpha val="12000"/>
              </a:srgbClr>
            </a:outerShdw>
          </a:effectLst>
        </p:spPr>
      </p:sp>
      <p:sp>
        <p:nvSpPr>
          <p:cNvPr id="10" name="Text 8"/>
          <p:cNvSpPr txBox="1"/>
          <p:nvPr/>
        </p:nvSpPr>
        <p:spPr>
          <a:xfrm>
            <a:off x="822960" y="3621024"/>
            <a:ext cx="5212080" cy="365760"/>
          </a:xfrm>
          <a:prstGeom prst="rect">
            <a:avLst/>
          </a:prstGeom>
          <a:noFill/>
          <a:ln/>
        </p:spPr>
        <p:txBody>
          <a:bodyPr wrap="square" lIns="0" tIns="0" rIns="0" bIns="0" rtlCol="0" anchor="t"/>
          <a:lstStyle/>
          <a:p>
            <a:pPr indent="0" marL="0">
              <a:buNone/>
            </a:pPr>
            <a:r>
              <a:rPr lang="en-US" sz="1800" b="1" dirty="0">
                <a:solidFill>
                  <a:schemeClr val="tx1"/>
                </a:solidFill>
              </a:rPr>
              <a:t>Tabla DynamoDB</a:t>
            </a:r>
            <a:endParaRPr lang="en-US" sz="1800" dirty="0"/>
          </a:p>
        </p:txBody>
      </p:sp>
      <p:sp>
        <p:nvSpPr>
          <p:cNvPr id="11" name="Text 9"/>
          <p:cNvSpPr txBox="1"/>
          <p:nvPr/>
        </p:nvSpPr>
        <p:spPr>
          <a:xfrm>
            <a:off x="822960" y="4005072"/>
            <a:ext cx="5212080" cy="274320"/>
          </a:xfrm>
          <a:prstGeom prst="rect">
            <a:avLst/>
          </a:prstGeom>
          <a:noFill/>
          <a:ln/>
        </p:spPr>
        <p:txBody>
          <a:bodyPr wrap="square" lIns="0" tIns="0" rIns="0" bIns="0" rtlCol="0" anchor="t"/>
          <a:lstStyle/>
          <a:p>
            <a:pPr indent="0" marL="0">
              <a:buNone/>
            </a:pPr>
            <a:r>
              <a:rPr lang="en-US" sz="1300" dirty="0">
                <a:solidFill>
                  <a:schemeClr val="accent2"/>
                </a:solidFill>
                <a:latin typeface="JetBrains Mono" pitchFamily="34" charset="0"/>
                <a:ea typeface="JetBrains Mono" pitchFamily="34" charset="-122"/>
                <a:cs typeface="JetBrains Mono" pitchFamily="34" charset="-120"/>
              </a:rPr>
              <a:t>m2-perez-pedidos</a:t>
            </a:r>
            <a:endParaRPr lang="en-US" sz="1300" dirty="0"/>
          </a:p>
        </p:txBody>
      </p:sp>
      <p:sp>
        <p:nvSpPr>
          <p:cNvPr id="12" name="Text 10"/>
          <p:cNvSpPr txBox="1"/>
          <p:nvPr/>
        </p:nvSpPr>
        <p:spPr>
          <a:xfrm>
            <a:off x="822960" y="4279392"/>
            <a:ext cx="5212080" cy="274320"/>
          </a:xfrm>
          <a:prstGeom prst="rect">
            <a:avLst/>
          </a:prstGeom>
          <a:noFill/>
          <a:ln/>
        </p:spPr>
        <p:txBody>
          <a:bodyPr wrap="square" lIns="0" tIns="0" rIns="0" bIns="0" rtlCol="0" anchor="t"/>
          <a:lstStyle/>
          <a:p>
            <a:pPr indent="0" marL="0">
              <a:buNone/>
            </a:pPr>
            <a:r>
              <a:rPr lang="en-US" sz="1300" dirty="0">
                <a:solidFill>
                  <a:schemeClr val="tx2"/>
                </a:solidFill>
              </a:rPr>
              <a:t>Para comparar modos de cobro</a:t>
            </a:r>
            <a:endParaRPr lang="en-US" sz="1300" dirty="0"/>
          </a:p>
        </p:txBody>
      </p:sp>
      <p:sp>
        <p:nvSpPr>
          <p:cNvPr id="13" name="recurso-3"/>
          <p:cNvSpPr/>
          <p:nvPr/>
        </p:nvSpPr>
        <p:spPr>
          <a:xfrm>
            <a:off x="548640" y="4764024"/>
            <a:ext cx="5760720" cy="1115568"/>
          </a:xfrm>
          <a:prstGeom prst="roundRect">
            <a:avLst>
              <a:gd name="adj" fmla="val 9836"/>
            </a:avLst>
          </a:prstGeom>
          <a:solidFill>
            <a:schemeClr val="accent6"/>
          </a:solidFill>
          <a:ln/>
          <a:effectLst>
            <a:outerShdw sx="100000" sy="100000" kx="0" ky="0" algn="bl" rotWithShape="0" blurRad="76200" dist="25400" dir="5400000">
              <a:srgbClr val="14213D">
                <a:alpha val="12000"/>
              </a:srgbClr>
            </a:outerShdw>
          </a:effectLst>
        </p:spPr>
      </p:sp>
      <p:sp>
        <p:nvSpPr>
          <p:cNvPr id="14" name="Text 12"/>
          <p:cNvSpPr txBox="1"/>
          <p:nvPr/>
        </p:nvSpPr>
        <p:spPr>
          <a:xfrm>
            <a:off x="822960" y="4882896"/>
            <a:ext cx="5212080" cy="365760"/>
          </a:xfrm>
          <a:prstGeom prst="rect">
            <a:avLst/>
          </a:prstGeom>
          <a:noFill/>
          <a:ln/>
        </p:spPr>
        <p:txBody>
          <a:bodyPr wrap="square" lIns="0" tIns="0" rIns="0" bIns="0" rtlCol="0" anchor="t"/>
          <a:lstStyle/>
          <a:p>
            <a:pPr indent="0" marL="0">
              <a:buNone/>
            </a:pPr>
            <a:r>
              <a:rPr lang="en-US" sz="1800" b="1" dirty="0">
                <a:solidFill>
                  <a:schemeClr val="tx1"/>
                </a:solidFill>
              </a:rPr>
              <a:t>Cola SQS</a:t>
            </a:r>
            <a:endParaRPr lang="en-US" sz="1800" dirty="0"/>
          </a:p>
        </p:txBody>
      </p:sp>
      <p:sp>
        <p:nvSpPr>
          <p:cNvPr id="15" name="Text 13"/>
          <p:cNvSpPr txBox="1"/>
          <p:nvPr/>
        </p:nvSpPr>
        <p:spPr>
          <a:xfrm>
            <a:off x="822960" y="5266944"/>
            <a:ext cx="5212080" cy="274320"/>
          </a:xfrm>
          <a:prstGeom prst="rect">
            <a:avLst/>
          </a:prstGeom>
          <a:noFill/>
          <a:ln/>
        </p:spPr>
        <p:txBody>
          <a:bodyPr wrap="square" lIns="0" tIns="0" rIns="0" bIns="0" rtlCol="0" anchor="t"/>
          <a:lstStyle/>
          <a:p>
            <a:pPr indent="0" marL="0">
              <a:buNone/>
            </a:pPr>
            <a:r>
              <a:rPr lang="en-US" sz="1300" dirty="0">
                <a:solidFill>
                  <a:schemeClr val="accent2"/>
                </a:solidFill>
                <a:latin typeface="JetBrains Mono" pitchFamily="34" charset="0"/>
                <a:ea typeface="JetBrains Mono" pitchFamily="34" charset="-122"/>
                <a:cs typeface="JetBrains Mono" pitchFamily="34" charset="-120"/>
              </a:rPr>
              <a:t>m2-perez-pedidos</a:t>
            </a:r>
            <a:endParaRPr lang="en-US" sz="1300" dirty="0"/>
          </a:p>
        </p:txBody>
      </p:sp>
      <p:sp>
        <p:nvSpPr>
          <p:cNvPr id="16" name="Text 14"/>
          <p:cNvSpPr txBox="1"/>
          <p:nvPr/>
        </p:nvSpPr>
        <p:spPr>
          <a:xfrm>
            <a:off x="822960" y="5541264"/>
            <a:ext cx="5212080" cy="274320"/>
          </a:xfrm>
          <a:prstGeom prst="rect">
            <a:avLst/>
          </a:prstGeom>
          <a:noFill/>
          <a:ln/>
        </p:spPr>
        <p:txBody>
          <a:bodyPr wrap="square" lIns="0" tIns="0" rIns="0" bIns="0" rtlCol="0" anchor="t"/>
          <a:lstStyle/>
          <a:p>
            <a:pPr indent="0" marL="0">
              <a:buNone/>
            </a:pPr>
            <a:r>
              <a:rPr lang="en-US" sz="1300" dirty="0">
                <a:solidFill>
                  <a:schemeClr val="tx2"/>
                </a:solidFill>
              </a:rPr>
              <a:t>Para ver un reemplazo (-/+)</a:t>
            </a:r>
            <a:endParaRPr lang="en-US" sz="1300" dirty="0"/>
          </a:p>
        </p:txBody>
      </p:sp>
      <p:sp>
        <p:nvSpPr>
          <p:cNvPr id="17" name="cuenta-compartida"/>
          <p:cNvSpPr/>
          <p:nvPr/>
        </p:nvSpPr>
        <p:spPr>
          <a:xfrm>
            <a:off x="6675120" y="1783080"/>
            <a:ext cx="4967935" cy="4160520"/>
          </a:xfrm>
          <a:prstGeom prst="roundRect">
            <a:avLst>
              <a:gd name="adj" fmla="val 2637"/>
            </a:avLst>
          </a:prstGeom>
          <a:solidFill>
            <a:srgbClr val="14213D"/>
          </a:solidFill>
          <a:ln/>
          <a:effectLst>
            <a:outerShdw sx="100000" sy="100000" kx="0" ky="0" algn="bl" rotWithShape="0" blurRad="76200" dist="25400" dir="5400000">
              <a:srgbClr val="14213D">
                <a:alpha val="12000"/>
              </a:srgbClr>
            </a:outerShdw>
          </a:effectLst>
        </p:spPr>
      </p:sp>
      <p:sp>
        <p:nvSpPr>
          <p:cNvPr id="18" name="Text 16"/>
          <p:cNvSpPr txBox="1"/>
          <p:nvPr/>
        </p:nvSpPr>
        <p:spPr>
          <a:xfrm>
            <a:off x="6995160" y="2011680"/>
            <a:ext cx="4389120" cy="731520"/>
          </a:xfrm>
          <a:prstGeom prst="rect">
            <a:avLst/>
          </a:prstGeom>
          <a:noFill/>
          <a:ln/>
        </p:spPr>
        <p:txBody>
          <a:bodyPr wrap="square" lIns="0" tIns="0" rIns="0" bIns="0" rtlCol="0" anchor="t"/>
          <a:lstStyle/>
          <a:p>
            <a:pPr indent="0" marL="0">
              <a:buNone/>
            </a:pPr>
            <a:r>
              <a:rPr lang="en-US" sz="2000" b="1" dirty="0">
                <a:solidFill>
                  <a:schemeClr val="bg1"/>
                </a:solidFill>
              </a:rPr>
              <a:t>Cinco personas, una cuenta de AWS Educate</a:t>
            </a:r>
            <a:endParaRPr lang="en-US" sz="2000" dirty="0"/>
          </a:p>
        </p:txBody>
      </p:sp>
      <p:sp>
        <p:nvSpPr>
          <p:cNvPr id="19" name="Text 17"/>
          <p:cNvSpPr txBox="1"/>
          <p:nvPr/>
        </p:nvSpPr>
        <p:spPr>
          <a:xfrm>
            <a:off x="6995160" y="2788920"/>
            <a:ext cx="4389120" cy="914400"/>
          </a:xfrm>
          <a:prstGeom prst="rect">
            <a:avLst/>
          </a:prstGeom>
          <a:noFill/>
          <a:ln/>
        </p:spPr>
        <p:txBody>
          <a:bodyPr wrap="square" lIns="0" tIns="0" rIns="0" bIns="0" rtlCol="0" anchor="t"/>
          <a:lstStyle/>
          <a:p>
            <a:pPr indent="0" marL="0">
              <a:buNone/>
            </a:pPr>
            <a:r>
              <a:rPr lang="en-US" sz="1500" dirty="0">
                <a:solidFill>
                  <a:schemeClr val="accent5"/>
                </a:solidFill>
              </a:rPr>
              <a:t>Mismas credenciales para todos. Lo único que separa tus recursos de los de otro es el prefijo.</a:t>
            </a:r>
            <a:endParaRPr lang="en-US" sz="1500" dirty="0"/>
          </a:p>
        </p:txBody>
      </p:sp>
      <p:sp>
        <p:nvSpPr>
          <p:cNvPr id="20" name="Text 18"/>
          <p:cNvSpPr txBox="1"/>
          <p:nvPr/>
        </p:nvSpPr>
        <p:spPr>
          <a:xfrm>
            <a:off x="6995160" y="3840480"/>
            <a:ext cx="548640" cy="457200"/>
          </a:xfrm>
          <a:prstGeom prst="rect">
            <a:avLst/>
          </a:prstGeom>
          <a:noFill/>
          <a:ln/>
        </p:spPr>
        <p:txBody>
          <a:bodyPr wrap="square" lIns="0" tIns="0" rIns="0" bIns="0" rtlCol="0" anchor="ctr"/>
          <a:lstStyle/>
          <a:p>
            <a:pPr indent="0" marL="0">
              <a:buNone/>
            </a:pPr>
            <a:r>
              <a:rPr lang="en-US" sz="1500" b="1" dirty="0">
                <a:solidFill>
                  <a:schemeClr val="accent4"/>
                </a:solidFill>
                <a:latin typeface="JetBrains Mono" pitchFamily="34" charset="0"/>
                <a:ea typeface="JetBrains Mono" pitchFamily="34" charset="-122"/>
                <a:cs typeface="JetBrains Mono" pitchFamily="34" charset="-120"/>
              </a:rPr>
              <a:t>01</a:t>
            </a:r>
            <a:endParaRPr lang="en-US" sz="1500" dirty="0"/>
          </a:p>
        </p:txBody>
      </p:sp>
      <p:sp>
        <p:nvSpPr>
          <p:cNvPr id="21" name="Text 19"/>
          <p:cNvSpPr txBox="1"/>
          <p:nvPr/>
        </p:nvSpPr>
        <p:spPr>
          <a:xfrm>
            <a:off x="7543800" y="3840480"/>
            <a:ext cx="3931920" cy="457200"/>
          </a:xfrm>
          <a:prstGeom prst="rect">
            <a:avLst/>
          </a:prstGeom>
          <a:noFill/>
          <a:ln/>
        </p:spPr>
        <p:txBody>
          <a:bodyPr wrap="square" lIns="0" tIns="0" rIns="0" bIns="0" rtlCol="0" anchor="ctr"/>
          <a:lstStyle/>
          <a:p>
            <a:pPr indent="0" marL="0">
              <a:buNone/>
            </a:pPr>
            <a:r>
              <a:rPr lang="en-US" sz="1500" b="1" dirty="0">
                <a:solidFill>
                  <a:schemeClr val="bg1"/>
                </a:solidFill>
              </a:rPr>
              <a:t>Solo tocas recursos con tu prefijo</a:t>
            </a:r>
            <a:endParaRPr lang="en-US" sz="1500" dirty="0"/>
          </a:p>
        </p:txBody>
      </p:sp>
      <p:sp>
        <p:nvSpPr>
          <p:cNvPr id="22" name="Text 20"/>
          <p:cNvSpPr txBox="1"/>
          <p:nvPr/>
        </p:nvSpPr>
        <p:spPr>
          <a:xfrm>
            <a:off x="6995160" y="4480560"/>
            <a:ext cx="548640" cy="457200"/>
          </a:xfrm>
          <a:prstGeom prst="rect">
            <a:avLst/>
          </a:prstGeom>
          <a:noFill/>
          <a:ln/>
        </p:spPr>
        <p:txBody>
          <a:bodyPr wrap="square" lIns="0" tIns="0" rIns="0" bIns="0" rtlCol="0" anchor="ctr"/>
          <a:lstStyle/>
          <a:p>
            <a:pPr indent="0" marL="0">
              <a:buNone/>
            </a:pPr>
            <a:r>
              <a:rPr lang="en-US" sz="1500" b="1" dirty="0">
                <a:solidFill>
                  <a:schemeClr val="accent4"/>
                </a:solidFill>
                <a:latin typeface="JetBrains Mono" pitchFamily="34" charset="0"/>
                <a:ea typeface="JetBrains Mono" pitchFamily="34" charset="-122"/>
                <a:cs typeface="JetBrains Mono" pitchFamily="34" charset="-120"/>
              </a:rPr>
              <a:t>02</a:t>
            </a:r>
            <a:endParaRPr lang="en-US" sz="1500" dirty="0"/>
          </a:p>
        </p:txBody>
      </p:sp>
      <p:sp>
        <p:nvSpPr>
          <p:cNvPr id="23" name="Text 21"/>
          <p:cNvSpPr txBox="1"/>
          <p:nvPr/>
        </p:nvSpPr>
        <p:spPr>
          <a:xfrm>
            <a:off x="7543800" y="4480560"/>
            <a:ext cx="3931920" cy="457200"/>
          </a:xfrm>
          <a:prstGeom prst="rect">
            <a:avLst/>
          </a:prstGeom>
          <a:noFill/>
          <a:ln/>
        </p:spPr>
        <p:txBody>
          <a:bodyPr wrap="square" lIns="0" tIns="0" rIns="0" bIns="0" rtlCol="0" anchor="ctr"/>
          <a:lstStyle/>
          <a:p>
            <a:pPr indent="0" marL="0">
              <a:buNone/>
            </a:pPr>
            <a:r>
              <a:rPr lang="en-US" sz="1500" b="1" dirty="0">
                <a:solidFill>
                  <a:schemeClr val="bg1"/>
                </a:solidFill>
              </a:rPr>
              <a:t>Nada desde la consola web</a:t>
            </a:r>
            <a:endParaRPr lang="en-US" sz="1500" dirty="0"/>
          </a:p>
        </p:txBody>
      </p:sp>
      <p:sp>
        <p:nvSpPr>
          <p:cNvPr id="24" name="Text 22"/>
          <p:cNvSpPr txBox="1"/>
          <p:nvPr/>
        </p:nvSpPr>
        <p:spPr>
          <a:xfrm>
            <a:off x="6995160" y="5120640"/>
            <a:ext cx="548640" cy="457200"/>
          </a:xfrm>
          <a:prstGeom prst="rect">
            <a:avLst/>
          </a:prstGeom>
          <a:noFill/>
          <a:ln/>
        </p:spPr>
        <p:txBody>
          <a:bodyPr wrap="square" lIns="0" tIns="0" rIns="0" bIns="0" rtlCol="0" anchor="ctr"/>
          <a:lstStyle/>
          <a:p>
            <a:pPr indent="0" marL="0">
              <a:buNone/>
            </a:pPr>
            <a:r>
              <a:rPr lang="en-US" sz="1500" b="1" dirty="0">
                <a:solidFill>
                  <a:schemeClr val="accent4"/>
                </a:solidFill>
                <a:latin typeface="JetBrains Mono" pitchFamily="34" charset="0"/>
                <a:ea typeface="JetBrains Mono" pitchFamily="34" charset="-122"/>
                <a:cs typeface="JetBrains Mono" pitchFamily="34" charset="-120"/>
              </a:rPr>
              <a:t>03</a:t>
            </a:r>
            <a:endParaRPr lang="en-US" sz="1500" dirty="0"/>
          </a:p>
        </p:txBody>
      </p:sp>
      <p:sp>
        <p:nvSpPr>
          <p:cNvPr id="25" name="Text 23"/>
          <p:cNvSpPr txBox="1"/>
          <p:nvPr/>
        </p:nvSpPr>
        <p:spPr>
          <a:xfrm>
            <a:off x="7543800" y="5120640"/>
            <a:ext cx="3931920" cy="457200"/>
          </a:xfrm>
          <a:prstGeom prst="rect">
            <a:avLst/>
          </a:prstGeom>
          <a:noFill/>
          <a:ln/>
        </p:spPr>
        <p:txBody>
          <a:bodyPr wrap="square" lIns="0" tIns="0" rIns="0" bIns="0" rtlCol="0" anchor="ctr"/>
          <a:lstStyle/>
          <a:p>
            <a:pPr indent="0" marL="0">
              <a:buNone/>
            </a:pPr>
            <a:r>
              <a:rPr lang="en-US" sz="1500" b="1" dirty="0">
                <a:solidFill>
                  <a:schemeClr val="bg1"/>
                </a:solidFill>
              </a:rPr>
              <a:t>Todo se destruye en el paso 9</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LABORATORIO</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Nueve pasos en 55 minutos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863840" cy="914400"/>
        </p:xfrm>
        <a:graphic>
          <a:graphicData uri="http://schemas.openxmlformats.org/drawingml/2006/table">
            <a:tbl>
              <a:tblPr/>
              <a:tblGrid>
                <a:gridCol w="548640"/>
                <a:gridCol w="6035040"/>
                <a:gridCol w="1280160"/>
              </a:tblGrid>
              <a:tr h="429768">
                <a:tc>
                  <a:txBody>
                    <a:bodyPr/>
                    <a:lstStyle/>
                    <a:p>
                      <a:pPr indent="0" marL="0">
                        <a:buNone/>
                      </a:pPr>
                      <a:r>
                        <a:rPr lang="en-US" sz="1400" b="1" dirty="0">
                          <a:solidFill>
                            <a:schemeClr val="bg1"/>
                          </a:solidFill>
                        </a:rPr>
                        <a:t>#</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Paso</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Tiempo</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tx1"/>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1</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Crear el repositorio, cargar credenciales y abrir Codespaces</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5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2</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Leer el código e inicializar</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5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3</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Estimar el costo con Infracost</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8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4</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plan</a:t>
                      </a:r>
                      <a:pPr indent="0" marL="0">
                        <a:buNone/>
                      </a:pPr>
                      <a:r>
                        <a:rPr lang="en-US" sz="1400" dirty="0">
                          <a:solidFill>
                            <a:schemeClr val="tx1"/>
                          </a:solidFill>
                        </a:rPr>
                        <a:t> y </a:t>
                      </a:r>
                      <a:pPr indent="0" marL="0">
                        <a:buNone/>
                      </a:pPr>
                      <a:r>
                        <a:rPr lang="en-US" sz="1400" dirty="0">
                          <a:solidFill>
                            <a:schemeClr val="tx1"/>
                          </a:solidFill>
                          <a:latin typeface="JetBrains Mono" pitchFamily="34" charset="0"/>
                          <a:ea typeface="JetBrains Mono" pitchFamily="34" charset="-122"/>
                          <a:cs typeface="JetBrains Mono" pitchFamily="34" charset="-120"/>
                        </a:rPr>
                        <a:t>apply</a:t>
                      </a:r>
                      <a:pPr indent="0" marL="0">
                        <a:buNone/>
                      </a:pPr>
                      <a:r>
                        <a:rPr lang="en-US" sz="1400" dirty="0">
                          <a:solidFill>
                            <a:schemeClr val="tx1"/>
                          </a:solidFill>
                        </a:rPr>
                        <a:t>: ver la página propia y la de un compañero</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8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5</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Modificar: cambio en sitio vs reemplazo</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7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6</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¿Cuánto cuesta el cambio? </a:t>
                      </a:r>
                      <a:pPr indent="0" marL="0">
                        <a:buNone/>
                      </a:pPr>
                      <a:r>
                        <a:rPr lang="en-US" sz="1400" dirty="0">
                          <a:solidFill>
                            <a:schemeClr val="tx1"/>
                          </a:solidFill>
                          <a:latin typeface="JetBrains Mono" pitchFamily="34" charset="0"/>
                          <a:ea typeface="JetBrains Mono" pitchFamily="34" charset="-122"/>
                          <a:cs typeface="JetBrains Mono" pitchFamily="34" charset="-120"/>
                        </a:rPr>
                        <a:t>infracost diff</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7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7</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State: listar, provocar drift y simular su pérdida</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10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8</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2"/>
                          </a:solidFill>
                        </a:rPr>
                        <a:t>(Opcional) Mover el state a S3 con bloqueo</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5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2"/>
                          </a:solidFill>
                          <a:latin typeface="JetBrains Mono" pitchFamily="34" charset="0"/>
                          <a:ea typeface="JetBrains Mono" pitchFamily="34" charset="-122"/>
                          <a:cs typeface="JetBrains Mono" pitchFamily="34" charset="-120"/>
                        </a:rPr>
                        <a:t>9</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Destruir y verificar que no queda nada</a:t>
                      </a:r>
                      <a:endParaRPr lang="en-US" sz="14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latin typeface="JetBrains Mono" pitchFamily="34" charset="0"/>
                          <a:ea typeface="JetBrains Mono" pitchFamily="34" charset="-122"/>
                          <a:cs typeface="JetBrains Mono" pitchFamily="34" charset="-120"/>
                        </a:rPr>
                        <a:t>5 min</a:t>
                      </a:r>
                      <a:endParaRPr lang="en-US" sz="1400" dirty="0">
                        <a:latin typeface="JetBrains Mono" charset="0"/>
                        <a:ea typeface="JetBrains Mono" charset="0"/>
                        <a:cs typeface="JetBrains Mono" charset="0"/>
                      </a:endParaRPr>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5" name="control-25"/>
          <p:cNvSpPr/>
          <p:nvPr/>
        </p:nvSpPr>
        <p:spPr>
          <a:xfrm>
            <a:off x="8778240" y="1783080"/>
            <a:ext cx="2864815" cy="2011680"/>
          </a:xfrm>
          <a:prstGeom prst="roundRect">
            <a:avLst>
              <a:gd name="adj" fmla="val 5455"/>
            </a:avLst>
          </a:prstGeom>
          <a:solidFill>
            <a:srgbClr val="2D6CDF"/>
          </a:solidFill>
          <a:ln/>
          <a:effectLst>
            <a:outerShdw sx="100000" sy="100000" kx="0" ky="0" algn="bl" rotWithShape="0" blurRad="76200" dist="25400" dir="5400000">
              <a:srgbClr val="14213D">
                <a:alpha val="12000"/>
              </a:srgbClr>
            </a:outerShdw>
          </a:effectLst>
        </p:spPr>
      </p:sp>
      <p:sp>
        <p:nvSpPr>
          <p:cNvPr id="6" name="Text 3"/>
          <p:cNvSpPr txBox="1"/>
          <p:nvPr/>
        </p:nvSpPr>
        <p:spPr>
          <a:xfrm>
            <a:off x="9052560" y="1965960"/>
            <a:ext cx="2377440" cy="640080"/>
          </a:xfrm>
          <a:prstGeom prst="rect">
            <a:avLst/>
          </a:prstGeom>
          <a:noFill/>
          <a:ln/>
        </p:spPr>
        <p:txBody>
          <a:bodyPr wrap="square" lIns="0" tIns="0" rIns="0" bIns="0" rtlCol="0" anchor="t"/>
          <a:lstStyle/>
          <a:p>
            <a:pPr indent="0" marL="0">
              <a:buNone/>
            </a:pPr>
            <a:r>
              <a:rPr lang="en-US" sz="3000" b="1" dirty="0">
                <a:solidFill>
                  <a:schemeClr val="bg1"/>
                </a:solidFill>
                <a:latin typeface="JetBrains Mono" pitchFamily="34" charset="0"/>
                <a:ea typeface="JetBrains Mono" pitchFamily="34" charset="-122"/>
                <a:cs typeface="JetBrains Mono" pitchFamily="34" charset="-120"/>
              </a:rPr>
              <a:t>25 min</a:t>
            </a:r>
            <a:endParaRPr lang="en-US" sz="3000" dirty="0"/>
          </a:p>
        </p:txBody>
      </p:sp>
      <p:sp>
        <p:nvSpPr>
          <p:cNvPr id="7" name="Text 4"/>
          <p:cNvSpPr txBox="1"/>
          <p:nvPr/>
        </p:nvSpPr>
        <p:spPr>
          <a:xfrm>
            <a:off x="9052560" y="2651760"/>
            <a:ext cx="2377440" cy="1005840"/>
          </a:xfrm>
          <a:prstGeom prst="rect">
            <a:avLst/>
          </a:prstGeom>
          <a:noFill/>
          <a:ln/>
        </p:spPr>
        <p:txBody>
          <a:bodyPr wrap="square" lIns="0" tIns="0" rIns="0" bIns="0" rtlCol="0" anchor="t"/>
          <a:lstStyle/>
          <a:p>
            <a:pPr indent="0" marL="0">
              <a:buNone/>
            </a:pPr>
            <a:r>
              <a:rPr lang="en-US" sz="1400" dirty="0">
                <a:solidFill>
                  <a:schemeClr val="bg1"/>
                </a:solidFill>
              </a:rPr>
              <a:t>Punto de control: todos con su página web abierta (fin del paso 4)</a:t>
            </a:r>
            <a:endParaRPr lang="en-US" sz="1400" dirty="0"/>
          </a:p>
        </p:txBody>
      </p:sp>
      <p:sp>
        <p:nvSpPr>
          <p:cNvPr id="8" name="regla-destruir"/>
          <p:cNvSpPr/>
          <p:nvPr/>
        </p:nvSpPr>
        <p:spPr>
          <a:xfrm>
            <a:off x="8778240" y="3977640"/>
            <a:ext cx="2864815" cy="1965960"/>
          </a:xfrm>
          <a:prstGeom prst="roundRect">
            <a:avLst>
              <a:gd name="adj" fmla="val 5581"/>
            </a:avLst>
          </a:prstGeom>
          <a:solidFill>
            <a:schemeClr val="accent6"/>
          </a:solidFill>
          <a:ln/>
          <a:effectLst>
            <a:outerShdw sx="100000" sy="100000" kx="0" ky="0" algn="bl" rotWithShape="0" blurRad="76200" dist="25400" dir="5400000">
              <a:srgbClr val="14213D">
                <a:alpha val="12000"/>
              </a:srgbClr>
            </a:outerShdw>
          </a:effectLst>
        </p:spPr>
      </p:sp>
      <p:sp>
        <p:nvSpPr>
          <p:cNvPr id="9" name="Text 6"/>
          <p:cNvSpPr txBox="1"/>
          <p:nvPr/>
        </p:nvSpPr>
        <p:spPr>
          <a:xfrm>
            <a:off x="9052560" y="4160520"/>
            <a:ext cx="2377440" cy="365760"/>
          </a:xfrm>
          <a:prstGeom prst="rect">
            <a:avLst/>
          </a:prstGeom>
          <a:noFill/>
          <a:ln/>
        </p:spPr>
        <p:txBody>
          <a:bodyPr wrap="square" lIns="0" tIns="0" rIns="0" bIns="0" rtlCol="0" anchor="t"/>
          <a:lstStyle/>
          <a:p>
            <a:pPr indent="0" marL="0">
              <a:buNone/>
            </a:pPr>
            <a:r>
              <a:rPr lang="en-US" sz="1400" dirty="0">
                <a:solidFill>
                  <a:schemeClr val="tx2"/>
                </a:solidFill>
              </a:rPr>
              <a:t>Nadie se va sin</a:t>
            </a:r>
            <a:endParaRPr lang="en-US" sz="1400" dirty="0"/>
          </a:p>
        </p:txBody>
      </p:sp>
      <p:sp>
        <p:nvSpPr>
          <p:cNvPr id="10" name="Text 7"/>
          <p:cNvSpPr txBox="1"/>
          <p:nvPr/>
        </p:nvSpPr>
        <p:spPr>
          <a:xfrm>
            <a:off x="9052560" y="4526280"/>
            <a:ext cx="2560320" cy="457200"/>
          </a:xfrm>
          <a:prstGeom prst="rect">
            <a:avLst/>
          </a:prstGeom>
          <a:noFill/>
          <a:ln/>
        </p:spPr>
        <p:txBody>
          <a:bodyPr wrap="square" lIns="0" tIns="0" rIns="0" bIns="0" rtlCol="0" anchor="t"/>
          <a:lstStyle/>
          <a:p>
            <a:pPr indent="0" marL="0">
              <a:buNone/>
            </a:pPr>
            <a:r>
              <a:rPr lang="en-US" sz="1600" b="1" dirty="0">
                <a:solidFill>
                  <a:schemeClr val="accent1"/>
                </a:solidFill>
                <a:latin typeface="JetBrains Mono" pitchFamily="34" charset="0"/>
                <a:ea typeface="JetBrains Mono" pitchFamily="34" charset="-122"/>
                <a:cs typeface="JetBrains Mono" pitchFamily="34" charset="-120"/>
              </a:rPr>
              <a:t>Destroy complete!</a:t>
            </a:r>
            <a:endParaRPr lang="en-US" sz="1600" dirty="0"/>
          </a:p>
        </p:txBody>
      </p:sp>
      <p:sp>
        <p:nvSpPr>
          <p:cNvPr id="11" name="Text 8"/>
          <p:cNvSpPr txBox="1"/>
          <p:nvPr/>
        </p:nvSpPr>
        <p:spPr>
          <a:xfrm>
            <a:off x="9052560" y="5120640"/>
            <a:ext cx="2377440" cy="365760"/>
          </a:xfrm>
          <a:prstGeom prst="rect">
            <a:avLst/>
          </a:prstGeom>
          <a:noFill/>
          <a:ln/>
        </p:spPr>
        <p:txBody>
          <a:bodyPr wrap="square" lIns="0" tIns="0" rIns="0" bIns="0" rtlCol="0" anchor="t"/>
          <a:lstStyle/>
          <a:p>
            <a:pPr indent="0" marL="0">
              <a:buNone/>
            </a:pPr>
            <a:r>
              <a:rPr lang="en-US" sz="1300" dirty="0">
                <a:solidFill>
                  <a:schemeClr val="tx2"/>
                </a:solidFill>
              </a:rPr>
              <a:t>Guía completa en GUIA.md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FINOPS</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FinOps: el costo es una métrica de ingeniería</a:t>
            </a:r>
            <a:endParaRPr lang="en-US" sz="3000" dirty="0"/>
          </a:p>
        </p:txBody>
      </p:sp>
      <p:sp>
        <p:nvSpPr>
          <p:cNvPr id="4" name="Text 2"/>
          <p:cNvSpPr txBox="1"/>
          <p:nvPr/>
        </p:nvSpPr>
        <p:spPr>
          <a:xfrm>
            <a:off x="548640" y="1691640"/>
            <a:ext cx="6400800" cy="868680"/>
          </a:xfrm>
          <a:prstGeom prst="rect">
            <a:avLst/>
          </a:prstGeom>
          <a:noFill/>
          <a:ln/>
        </p:spPr>
        <p:txBody>
          <a:bodyPr wrap="square" lIns="0" tIns="0" rIns="0" bIns="0" rtlCol="0" anchor="t"/>
          <a:lstStyle/>
          <a:p>
            <a:pPr indent="0" marL="0">
              <a:buNone/>
            </a:pPr>
            <a:r>
              <a:rPr lang="en-US" sz="1500" dirty="0">
                <a:solidFill>
                  <a:schemeClr val="tx2"/>
                </a:solidFill>
              </a:rPr>
              <a:t>Práctica que une a ingeniería, finanzas y negocio para que cada equipo se haga responsable de su gasto en la nube y lo use para decidir.</a:t>
            </a:r>
            <a:endParaRPr lang="en-US" sz="1500" dirty="0"/>
          </a:p>
        </p:txBody>
      </p:sp>
      <p:sp>
        <p:nvSpPr>
          <p:cNvPr id="5" name="Text 3"/>
          <p:cNvSpPr txBox="1"/>
          <p:nvPr/>
        </p:nvSpPr>
        <p:spPr>
          <a:xfrm>
            <a:off x="548640" y="2560320"/>
            <a:ext cx="4572000" cy="274320"/>
          </a:xfrm>
          <a:prstGeom prst="rect">
            <a:avLst/>
          </a:prstGeom>
          <a:noFill/>
          <a:ln/>
        </p:spPr>
        <p:txBody>
          <a:bodyPr wrap="square" lIns="0" tIns="0" rIns="0" bIns="0" rtlCol="0" anchor="t"/>
          <a:lstStyle/>
          <a:p>
            <a:pPr indent="0" marL="0">
              <a:buNone/>
            </a:pPr>
            <a:r>
              <a:rPr lang="en-US" sz="1100" i="1" dirty="0">
                <a:solidFill>
                  <a:schemeClr val="tx2"/>
                </a:solidFill>
              </a:rPr>
              <a:t>Definición: FinOps Foundation</a:t>
            </a:r>
            <a:endParaRPr lang="en-US" sz="1100" dirty="0"/>
          </a:p>
        </p:txBody>
      </p:sp>
      <p:sp>
        <p:nvSpPr>
          <p:cNvPr id="6" name="fase-Informar"/>
          <p:cNvSpPr/>
          <p:nvPr/>
        </p:nvSpPr>
        <p:spPr>
          <a:xfrm>
            <a:off x="548640" y="3017520"/>
            <a:ext cx="3474720" cy="2926080"/>
          </a:xfrm>
          <a:prstGeom prst="roundRect">
            <a:avLst>
              <a:gd name="adj" fmla="val 3750"/>
            </a:avLst>
          </a:prstGeom>
          <a:solidFill>
            <a:schemeClr val="accent6"/>
          </a:solidFill>
          <a:ln/>
          <a:effectLst>
            <a:outerShdw sx="100000" sy="100000" kx="0" ky="0" algn="bl" rotWithShape="0" blurRad="76200" dist="25400" dir="5400000">
              <a:srgbClr val="14213D">
                <a:alpha val="12000"/>
              </a:srgbClr>
            </a:outerShdw>
          </a:effectLst>
        </p:spPr>
      </p:sp>
      <p:sp>
        <p:nvSpPr>
          <p:cNvPr id="7" name="pill-Informar"/>
          <p:cNvSpPr/>
          <p:nvPr/>
        </p:nvSpPr>
        <p:spPr>
          <a:xfrm>
            <a:off x="822960" y="3246120"/>
            <a:ext cx="1737360" cy="438912"/>
          </a:xfrm>
          <a:prstGeom prst="roundRect">
            <a:avLst>
              <a:gd name="adj" fmla="val 50000"/>
            </a:avLst>
          </a:prstGeom>
          <a:solidFill>
            <a:srgbClr val="2F7D5B"/>
          </a:solidFill>
          <a:ln/>
        </p:spPr>
      </p:sp>
      <p:sp>
        <p:nvSpPr>
          <p:cNvPr id="8" name="Text 6"/>
          <p:cNvSpPr txBox="1"/>
          <p:nvPr/>
        </p:nvSpPr>
        <p:spPr>
          <a:xfrm>
            <a:off x="960120" y="3246120"/>
            <a:ext cx="146304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JetBrains Mono" pitchFamily="34" charset="0"/>
                <a:ea typeface="JetBrains Mono" pitchFamily="34" charset="-122"/>
                <a:cs typeface="JetBrains Mono" pitchFamily="34" charset="-120"/>
              </a:rPr>
              <a:t>Informar</a:t>
            </a:r>
            <a:endParaRPr lang="en-US" sz="1300" dirty="0"/>
          </a:p>
        </p:txBody>
      </p:sp>
      <p:sp>
        <p:nvSpPr>
          <p:cNvPr id="9" name="Text 7"/>
          <p:cNvSpPr txBox="1"/>
          <p:nvPr/>
        </p:nvSpPr>
        <p:spPr>
          <a:xfrm>
            <a:off x="4041648" y="3200400"/>
            <a:ext cx="256032" cy="457200"/>
          </a:xfrm>
          <a:prstGeom prst="rect">
            <a:avLst/>
          </a:prstGeom>
          <a:noFill/>
          <a:ln/>
        </p:spPr>
        <p:txBody>
          <a:bodyPr wrap="square" lIns="0" tIns="0" rIns="0" bIns="0" rtlCol="0" anchor="t"/>
          <a:lstStyle/>
          <a:p>
            <a:pPr algn="ctr" indent="0" marL="0">
              <a:buNone/>
            </a:pPr>
            <a:r>
              <a:rPr lang="en-US" sz="2200" dirty="0">
                <a:solidFill>
                  <a:schemeClr val="accent3"/>
                </a:solidFill>
              </a:rPr>
              <a:t>→</a:t>
            </a:r>
            <a:endParaRPr lang="en-US" sz="2200" dirty="0"/>
          </a:p>
        </p:txBody>
      </p:sp>
      <p:sp>
        <p:nvSpPr>
          <p:cNvPr id="10" name="Text 8"/>
          <p:cNvSpPr txBox="1"/>
          <p:nvPr/>
        </p:nvSpPr>
        <p:spPr>
          <a:xfrm>
            <a:off x="822960" y="3840480"/>
            <a:ext cx="2926080" cy="731520"/>
          </a:xfrm>
          <a:prstGeom prst="rect">
            <a:avLst/>
          </a:prstGeom>
          <a:noFill/>
          <a:ln/>
        </p:spPr>
        <p:txBody>
          <a:bodyPr wrap="square" lIns="0" tIns="0" rIns="0" bIns="0" rtlCol="0" anchor="t"/>
          <a:lstStyle/>
          <a:p>
            <a:pPr indent="0" marL="0">
              <a:buNone/>
            </a:pPr>
            <a:r>
              <a:rPr lang="en-US" sz="1500" b="1" dirty="0">
                <a:solidFill>
                  <a:schemeClr val="tx1"/>
                </a:solidFill>
              </a:rPr>
              <a:t>Saber quién gasta cuánto: etiquetas, presupuestos</a:t>
            </a:r>
            <a:endParaRPr lang="en-US" sz="1500" dirty="0"/>
          </a:p>
        </p:txBody>
      </p:sp>
      <p:sp>
        <p:nvSpPr>
          <p:cNvPr id="11" name="Text 9"/>
          <p:cNvSpPr txBox="1"/>
          <p:nvPr/>
        </p:nvSpPr>
        <p:spPr>
          <a:xfrm>
            <a:off x="822960" y="4663440"/>
            <a:ext cx="2926080" cy="274320"/>
          </a:xfrm>
          <a:prstGeom prst="rect">
            <a:avLst/>
          </a:prstGeom>
          <a:noFill/>
          <a:ln/>
        </p:spPr>
        <p:txBody>
          <a:bodyPr wrap="square" lIns="0" tIns="0" rIns="0" bIns="0" rtlCol="0" anchor="t"/>
          <a:lstStyle/>
          <a:p>
            <a:pPr indent="0" marL="0">
              <a:buNone/>
            </a:pPr>
            <a:r>
              <a:rPr lang="en-US" sz="1100" b="1" dirty="0">
                <a:solidFill>
                  <a:schemeClr val="accent3"/>
                </a:solidFill>
                <a:latin typeface="JetBrains Mono" pitchFamily="34" charset="0"/>
                <a:ea typeface="JetBrains Mono" pitchFamily="34" charset="-122"/>
                <a:cs typeface="JetBrains Mono" pitchFamily="34" charset="-120"/>
              </a:rPr>
              <a:t>EN EL LAB</a:t>
            </a:r>
            <a:endParaRPr lang="en-US" sz="1100" dirty="0"/>
          </a:p>
        </p:txBody>
      </p:sp>
      <p:sp>
        <p:nvSpPr>
          <p:cNvPr id="12" name="Text 10"/>
          <p:cNvSpPr txBox="1"/>
          <p:nvPr/>
        </p:nvSpPr>
        <p:spPr>
          <a:xfrm>
            <a:off x="822960" y="4937760"/>
            <a:ext cx="2926080" cy="868680"/>
          </a:xfrm>
          <a:prstGeom prst="rect">
            <a:avLst/>
          </a:prstGeom>
          <a:noFill/>
          <a:ln/>
        </p:spPr>
        <p:txBody>
          <a:bodyPr wrap="square" lIns="0" tIns="0" rIns="0" bIns="0" rtlCol="0" anchor="t"/>
          <a:lstStyle/>
          <a:p>
            <a:pPr indent="0" marL="0">
              <a:buNone/>
            </a:pPr>
            <a:r>
              <a:rPr lang="en-US" sz="1300" dirty="0">
                <a:solidFill>
                  <a:schemeClr val="tx2"/>
                </a:solidFill>
              </a:rPr>
              <a:t>Etiquetas </a:t>
            </a:r>
            <a:pPr indent="0" marL="0">
              <a:buNone/>
            </a:pPr>
            <a:r>
              <a:rPr lang="en-US" sz="1300" dirty="0">
                <a:solidFill>
                  <a:schemeClr val="tx2"/>
                </a:solidFill>
                <a:latin typeface="JetBrains Mono" pitchFamily="34" charset="0"/>
                <a:ea typeface="JetBrains Mono" pitchFamily="34" charset="-122"/>
                <a:cs typeface="JetBrains Mono" pitchFamily="34" charset="-120"/>
              </a:rPr>
              <a:t>Curso</a:t>
            </a:r>
            <a:pPr indent="0" marL="0">
              <a:buNone/>
            </a:pPr>
            <a:r>
              <a:rPr lang="en-US" sz="1300" dirty="0">
                <a:solidFill>
                  <a:schemeClr val="tx2"/>
                </a:solidFill>
              </a:rPr>
              <a:t> y </a:t>
            </a:r>
            <a:pPr indent="0" marL="0">
              <a:buNone/>
            </a:pPr>
            <a:r>
              <a:rPr lang="en-US" sz="1300" dirty="0">
                <a:solidFill>
                  <a:schemeClr val="tx2"/>
                </a:solidFill>
                <a:latin typeface="JetBrains Mono" pitchFamily="34" charset="0"/>
                <a:ea typeface="JetBrains Mono" pitchFamily="34" charset="-122"/>
                <a:cs typeface="JetBrains Mono" pitchFamily="34" charset="-120"/>
              </a:rPr>
              <a:t>Alumno</a:t>
            </a:r>
            <a:pPr indent="0" marL="0">
              <a:buNone/>
            </a:pPr>
            <a:r>
              <a:rPr lang="en-US" sz="1300" dirty="0">
                <a:solidFill>
                  <a:schemeClr val="tx2"/>
                </a:solidFill>
              </a:rPr>
              <a:t>; USD 50 fijos para todo el curso</a:t>
            </a:r>
            <a:endParaRPr lang="en-US" sz="1300" dirty="0"/>
          </a:p>
        </p:txBody>
      </p:sp>
      <p:sp>
        <p:nvSpPr>
          <p:cNvPr id="13" name="fase-Optimizar"/>
          <p:cNvSpPr/>
          <p:nvPr/>
        </p:nvSpPr>
        <p:spPr>
          <a:xfrm>
            <a:off x="4297680" y="3017520"/>
            <a:ext cx="3474720" cy="2926080"/>
          </a:xfrm>
          <a:prstGeom prst="roundRect">
            <a:avLst>
              <a:gd name="adj" fmla="val 3750"/>
            </a:avLst>
          </a:prstGeom>
          <a:solidFill>
            <a:schemeClr val="accent6"/>
          </a:solidFill>
          <a:ln/>
          <a:effectLst>
            <a:outerShdw sx="100000" sy="100000" kx="0" ky="0" algn="bl" rotWithShape="0" blurRad="76200" dist="25400" dir="5400000">
              <a:srgbClr val="14213D">
                <a:alpha val="12000"/>
              </a:srgbClr>
            </a:outerShdw>
          </a:effectLst>
        </p:spPr>
      </p:sp>
      <p:sp>
        <p:nvSpPr>
          <p:cNvPr id="14" name="pill-Optimizar"/>
          <p:cNvSpPr/>
          <p:nvPr/>
        </p:nvSpPr>
        <p:spPr>
          <a:xfrm>
            <a:off x="4572000" y="3246120"/>
            <a:ext cx="1737360" cy="438912"/>
          </a:xfrm>
          <a:prstGeom prst="roundRect">
            <a:avLst>
              <a:gd name="adj" fmla="val 50000"/>
            </a:avLst>
          </a:prstGeom>
          <a:solidFill>
            <a:srgbClr val="2F7D5B"/>
          </a:solidFill>
          <a:ln/>
        </p:spPr>
      </p:sp>
      <p:sp>
        <p:nvSpPr>
          <p:cNvPr id="15" name="Text 13"/>
          <p:cNvSpPr txBox="1"/>
          <p:nvPr/>
        </p:nvSpPr>
        <p:spPr>
          <a:xfrm>
            <a:off x="4709160" y="3246120"/>
            <a:ext cx="146304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JetBrains Mono" pitchFamily="34" charset="0"/>
                <a:ea typeface="JetBrains Mono" pitchFamily="34" charset="-122"/>
                <a:cs typeface="JetBrains Mono" pitchFamily="34" charset="-120"/>
              </a:rPr>
              <a:t>Optimizar</a:t>
            </a:r>
            <a:endParaRPr lang="en-US" sz="1300" dirty="0"/>
          </a:p>
        </p:txBody>
      </p:sp>
      <p:sp>
        <p:nvSpPr>
          <p:cNvPr id="16" name="Text 14"/>
          <p:cNvSpPr txBox="1"/>
          <p:nvPr/>
        </p:nvSpPr>
        <p:spPr>
          <a:xfrm>
            <a:off x="7790688" y="3200400"/>
            <a:ext cx="256032" cy="457200"/>
          </a:xfrm>
          <a:prstGeom prst="rect">
            <a:avLst/>
          </a:prstGeom>
          <a:noFill/>
          <a:ln/>
        </p:spPr>
        <p:txBody>
          <a:bodyPr wrap="square" lIns="0" tIns="0" rIns="0" bIns="0" rtlCol="0" anchor="t"/>
          <a:lstStyle/>
          <a:p>
            <a:pPr algn="ctr" indent="0" marL="0">
              <a:buNone/>
            </a:pPr>
            <a:r>
              <a:rPr lang="en-US" sz="2200" dirty="0">
                <a:solidFill>
                  <a:schemeClr val="accent3"/>
                </a:solidFill>
              </a:rPr>
              <a:t>→</a:t>
            </a:r>
            <a:endParaRPr lang="en-US" sz="2200" dirty="0"/>
          </a:p>
        </p:txBody>
      </p:sp>
      <p:sp>
        <p:nvSpPr>
          <p:cNvPr id="17" name="Text 15"/>
          <p:cNvSpPr txBox="1"/>
          <p:nvPr/>
        </p:nvSpPr>
        <p:spPr>
          <a:xfrm>
            <a:off x="4572000" y="3840480"/>
            <a:ext cx="2926080" cy="731520"/>
          </a:xfrm>
          <a:prstGeom prst="rect">
            <a:avLst/>
          </a:prstGeom>
          <a:noFill/>
          <a:ln/>
        </p:spPr>
        <p:txBody>
          <a:bodyPr wrap="square" lIns="0" tIns="0" rIns="0" bIns="0" rtlCol="0" anchor="t"/>
          <a:lstStyle/>
          <a:p>
            <a:pPr indent="0" marL="0">
              <a:buNone/>
            </a:pPr>
            <a:r>
              <a:rPr lang="en-US" sz="1500" b="1" dirty="0">
                <a:solidFill>
                  <a:schemeClr val="tx1"/>
                </a:solidFill>
              </a:rPr>
              <a:t>Dimensionar, apagar, comprar mejor</a:t>
            </a:r>
            <a:endParaRPr lang="en-US" sz="1500" dirty="0"/>
          </a:p>
        </p:txBody>
      </p:sp>
      <p:sp>
        <p:nvSpPr>
          <p:cNvPr id="18" name="Text 16"/>
          <p:cNvSpPr txBox="1"/>
          <p:nvPr/>
        </p:nvSpPr>
        <p:spPr>
          <a:xfrm>
            <a:off x="4572000" y="4663440"/>
            <a:ext cx="2926080" cy="274320"/>
          </a:xfrm>
          <a:prstGeom prst="rect">
            <a:avLst/>
          </a:prstGeom>
          <a:noFill/>
          <a:ln/>
        </p:spPr>
        <p:txBody>
          <a:bodyPr wrap="square" lIns="0" tIns="0" rIns="0" bIns="0" rtlCol="0" anchor="t"/>
          <a:lstStyle/>
          <a:p>
            <a:pPr indent="0" marL="0">
              <a:buNone/>
            </a:pPr>
            <a:r>
              <a:rPr lang="en-US" sz="1100" b="1" dirty="0">
                <a:solidFill>
                  <a:schemeClr val="accent3"/>
                </a:solidFill>
                <a:latin typeface="JetBrains Mono" pitchFamily="34" charset="0"/>
                <a:ea typeface="JetBrains Mono" pitchFamily="34" charset="-122"/>
                <a:cs typeface="JetBrains Mono" pitchFamily="34" charset="-120"/>
              </a:rPr>
              <a:t>EN EL LAB</a:t>
            </a:r>
            <a:endParaRPr lang="en-US" sz="1100" dirty="0"/>
          </a:p>
        </p:txBody>
      </p:sp>
      <p:sp>
        <p:nvSpPr>
          <p:cNvPr id="19" name="Text 17"/>
          <p:cNvSpPr txBox="1"/>
          <p:nvPr/>
        </p:nvSpPr>
        <p:spPr>
          <a:xfrm>
            <a:off x="4572000" y="4937760"/>
            <a:ext cx="2926080" cy="868680"/>
          </a:xfrm>
          <a:prstGeom prst="rect">
            <a:avLst/>
          </a:prstGeom>
          <a:noFill/>
          <a:ln/>
        </p:spPr>
        <p:txBody>
          <a:bodyPr wrap="square" lIns="0" tIns="0" rIns="0" bIns="0" rtlCol="0" anchor="t"/>
          <a:lstStyle/>
          <a:p>
            <a:pPr indent="0" marL="0">
              <a:buNone/>
            </a:pPr>
            <a:r>
              <a:rPr lang="en-US" sz="1300" dirty="0">
                <a:solidFill>
                  <a:schemeClr val="tx2"/>
                </a:solidFill>
                <a:latin typeface="JetBrains Mono" pitchFamily="34" charset="0"/>
                <a:ea typeface="JetBrains Mono" pitchFamily="34" charset="-122"/>
                <a:cs typeface="JetBrains Mono" pitchFamily="34" charset="-120"/>
              </a:rPr>
              <a:t>infracost diff</a:t>
            </a:r>
            <a:pPr indent="0" marL="0">
              <a:buNone/>
            </a:pPr>
            <a:r>
              <a:rPr lang="en-US" sz="1300" dirty="0">
                <a:solidFill>
                  <a:schemeClr val="tx2"/>
                </a:solidFill>
              </a:rPr>
              <a:t> antes de cambiar y sus recomendaciones FinOps</a:t>
            </a:r>
            <a:endParaRPr lang="en-US" sz="1300" dirty="0"/>
          </a:p>
        </p:txBody>
      </p:sp>
      <p:sp>
        <p:nvSpPr>
          <p:cNvPr id="20" name="fase-Operar"/>
          <p:cNvSpPr/>
          <p:nvPr/>
        </p:nvSpPr>
        <p:spPr>
          <a:xfrm>
            <a:off x="8046720" y="3017520"/>
            <a:ext cx="3474720" cy="2926080"/>
          </a:xfrm>
          <a:prstGeom prst="roundRect">
            <a:avLst>
              <a:gd name="adj" fmla="val 3750"/>
            </a:avLst>
          </a:prstGeom>
          <a:solidFill>
            <a:schemeClr val="accent6"/>
          </a:solidFill>
          <a:ln/>
          <a:effectLst>
            <a:outerShdw sx="100000" sy="100000" kx="0" ky="0" algn="bl" rotWithShape="0" blurRad="76200" dist="25400" dir="5400000">
              <a:srgbClr val="14213D">
                <a:alpha val="12000"/>
              </a:srgbClr>
            </a:outerShdw>
          </a:effectLst>
        </p:spPr>
      </p:sp>
      <p:sp>
        <p:nvSpPr>
          <p:cNvPr id="21" name="pill-Operar"/>
          <p:cNvSpPr/>
          <p:nvPr/>
        </p:nvSpPr>
        <p:spPr>
          <a:xfrm>
            <a:off x="8321040" y="3246120"/>
            <a:ext cx="1737360" cy="438912"/>
          </a:xfrm>
          <a:prstGeom prst="roundRect">
            <a:avLst>
              <a:gd name="adj" fmla="val 50000"/>
            </a:avLst>
          </a:prstGeom>
          <a:solidFill>
            <a:srgbClr val="2F7D5B"/>
          </a:solidFill>
          <a:ln/>
        </p:spPr>
      </p:sp>
      <p:sp>
        <p:nvSpPr>
          <p:cNvPr id="22" name="Text 20"/>
          <p:cNvSpPr txBox="1"/>
          <p:nvPr/>
        </p:nvSpPr>
        <p:spPr>
          <a:xfrm>
            <a:off x="8458200" y="3246120"/>
            <a:ext cx="146304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JetBrains Mono" pitchFamily="34" charset="0"/>
                <a:ea typeface="JetBrains Mono" pitchFamily="34" charset="-122"/>
                <a:cs typeface="JetBrains Mono" pitchFamily="34" charset="-120"/>
              </a:rPr>
              <a:t>Operar</a:t>
            </a:r>
            <a:endParaRPr lang="en-US" sz="1300" dirty="0"/>
          </a:p>
        </p:txBody>
      </p:sp>
      <p:sp>
        <p:nvSpPr>
          <p:cNvPr id="23" name="Text 21"/>
          <p:cNvSpPr txBox="1"/>
          <p:nvPr/>
        </p:nvSpPr>
        <p:spPr>
          <a:xfrm>
            <a:off x="8321040" y="3840480"/>
            <a:ext cx="2926080" cy="731520"/>
          </a:xfrm>
          <a:prstGeom prst="rect">
            <a:avLst/>
          </a:prstGeom>
          <a:noFill/>
          <a:ln/>
        </p:spPr>
        <p:txBody>
          <a:bodyPr wrap="square" lIns="0" tIns="0" rIns="0" bIns="0" rtlCol="0" anchor="t"/>
          <a:lstStyle/>
          <a:p>
            <a:pPr indent="0" marL="0">
              <a:buNone/>
            </a:pPr>
            <a:r>
              <a:rPr lang="en-US" sz="1500" b="1" dirty="0">
                <a:solidFill>
                  <a:schemeClr val="tx1"/>
                </a:solidFill>
              </a:rPr>
              <a:t>Hacerlo continuo: alertas, revisión en cada PR</a:t>
            </a:r>
            <a:endParaRPr lang="en-US" sz="1500" dirty="0"/>
          </a:p>
        </p:txBody>
      </p:sp>
      <p:sp>
        <p:nvSpPr>
          <p:cNvPr id="24" name="Text 22"/>
          <p:cNvSpPr txBox="1"/>
          <p:nvPr/>
        </p:nvSpPr>
        <p:spPr>
          <a:xfrm>
            <a:off x="8321040" y="4663440"/>
            <a:ext cx="2926080" cy="274320"/>
          </a:xfrm>
          <a:prstGeom prst="rect">
            <a:avLst/>
          </a:prstGeom>
          <a:noFill/>
          <a:ln/>
        </p:spPr>
        <p:txBody>
          <a:bodyPr wrap="square" lIns="0" tIns="0" rIns="0" bIns="0" rtlCol="0" anchor="t"/>
          <a:lstStyle/>
          <a:p>
            <a:pPr indent="0" marL="0">
              <a:buNone/>
            </a:pPr>
            <a:r>
              <a:rPr lang="en-US" sz="1100" b="1" dirty="0">
                <a:solidFill>
                  <a:schemeClr val="accent3"/>
                </a:solidFill>
                <a:latin typeface="JetBrains Mono" pitchFamily="34" charset="0"/>
                <a:ea typeface="JetBrains Mono" pitchFamily="34" charset="-122"/>
                <a:cs typeface="JetBrains Mono" pitchFamily="34" charset="-120"/>
              </a:rPr>
              <a:t>EN EL LAB</a:t>
            </a:r>
            <a:endParaRPr lang="en-US" sz="1100" dirty="0"/>
          </a:p>
        </p:txBody>
      </p:sp>
      <p:sp>
        <p:nvSpPr>
          <p:cNvPr id="25" name="Text 23"/>
          <p:cNvSpPr txBox="1"/>
          <p:nvPr/>
        </p:nvSpPr>
        <p:spPr>
          <a:xfrm>
            <a:off x="8321040" y="4937760"/>
            <a:ext cx="2926080" cy="868680"/>
          </a:xfrm>
          <a:prstGeom prst="rect">
            <a:avLst/>
          </a:prstGeom>
          <a:noFill/>
          <a:ln/>
        </p:spPr>
        <p:txBody>
          <a:bodyPr wrap="square" lIns="0" tIns="0" rIns="0" bIns="0" rtlCol="0" anchor="t"/>
          <a:lstStyle/>
          <a:p>
            <a:pPr indent="0" marL="0">
              <a:buNone/>
            </a:pPr>
            <a:r>
              <a:rPr lang="en-US" sz="1300" dirty="0">
                <a:solidFill>
                  <a:schemeClr val="tx2"/>
                </a:solidFill>
              </a:rPr>
              <a:t>Destruir al terminar; barrido de huérfanos</a:t>
            </a:r>
            <a:endParaRPr lang="en-US" sz="1300" dirty="0"/>
          </a:p>
        </p:txBody>
      </p:sp>
      <p:sp>
        <p:nvSpPr>
          <p:cNvPr id="26" name="stat-41"/>
          <p:cNvSpPr/>
          <p:nvPr/>
        </p:nvSpPr>
        <p:spPr>
          <a:xfrm>
            <a:off x="7589520" y="1691640"/>
            <a:ext cx="4053535" cy="1097280"/>
          </a:xfrm>
          <a:prstGeom prst="roundRect">
            <a:avLst>
              <a:gd name="adj" fmla="val 10000"/>
            </a:avLst>
          </a:prstGeom>
          <a:solidFill>
            <a:srgbClr val="2F7D5B"/>
          </a:solidFill>
          <a:ln/>
          <a:effectLst>
            <a:outerShdw sx="100000" sy="100000" kx="0" ky="0" algn="bl" rotWithShape="0" blurRad="76200" dist="25400" dir="5400000">
              <a:srgbClr val="14213D">
                <a:alpha val="12000"/>
              </a:srgbClr>
            </a:outerShdw>
          </a:effectLst>
        </p:spPr>
      </p:sp>
      <p:sp>
        <p:nvSpPr>
          <p:cNvPr id="27" name="Text 25"/>
          <p:cNvSpPr txBox="1"/>
          <p:nvPr/>
        </p:nvSpPr>
        <p:spPr>
          <a:xfrm>
            <a:off x="7818120" y="1755648"/>
            <a:ext cx="3657600" cy="502920"/>
          </a:xfrm>
          <a:prstGeom prst="rect">
            <a:avLst/>
          </a:prstGeom>
          <a:noFill/>
          <a:ln/>
        </p:spPr>
        <p:txBody>
          <a:bodyPr wrap="square" lIns="0" tIns="0" rIns="0" bIns="0" rtlCol="0" anchor="t"/>
          <a:lstStyle/>
          <a:p>
            <a:pPr indent="0" marL="0">
              <a:buNone/>
            </a:pPr>
            <a:r>
              <a:rPr lang="en-US" sz="2400" b="1" dirty="0">
                <a:solidFill>
                  <a:schemeClr val="bg1"/>
                </a:solidFill>
              </a:rPr>
              <a:t>USD 41 / mes</a:t>
            </a:r>
            <a:endParaRPr lang="en-US" sz="2400" dirty="0"/>
          </a:p>
        </p:txBody>
      </p:sp>
      <p:sp>
        <p:nvSpPr>
          <p:cNvPr id="28" name="Text 26"/>
          <p:cNvSpPr txBox="1"/>
          <p:nvPr/>
        </p:nvSpPr>
        <p:spPr>
          <a:xfrm>
            <a:off x="7818120" y="2240280"/>
            <a:ext cx="3657600" cy="502920"/>
          </a:xfrm>
          <a:prstGeom prst="rect">
            <a:avLst/>
          </a:prstGeom>
          <a:noFill/>
          <a:ln/>
        </p:spPr>
        <p:txBody>
          <a:bodyPr wrap="square" lIns="0" tIns="0" rIns="0" bIns="0" rtlCol="0" anchor="t"/>
          <a:lstStyle/>
          <a:p>
            <a:pPr indent="0" marL="0">
              <a:buNone/>
            </a:pPr>
            <a:r>
              <a:rPr lang="en-US" sz="1200" dirty="0">
                <a:solidFill>
                  <a:schemeClr val="bg1"/>
                </a:solidFill>
              </a:rPr>
              <a:t>5 servidores t3.micro olvidados un mes: el 82 % del presupuesto</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JetBrains Mono" pitchFamily="34" charset="0"/>
                <a:ea typeface="JetBrains Mono" pitchFamily="34" charset="-122"/>
                <a:cs typeface="JetBrains Mono" pitchFamily="34" charset="-120"/>
              </a:rPr>
              <a:t>FINOPS</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rPr>
              <a:t>Siete palancas para bajar la factura</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468880"/>
                <a:gridCol w="4754880"/>
                <a:gridCol w="3867912"/>
              </a:tblGrid>
              <a:tr h="457200">
                <a:tc>
                  <a:txBody>
                    <a:bodyPr/>
                    <a:lstStyle/>
                    <a:p>
                      <a:pPr indent="0" marL="0">
                        <a:buNone/>
                      </a:pPr>
                      <a:r>
                        <a:rPr lang="en-US" sz="1300" b="1" dirty="0">
                          <a:solidFill>
                            <a:schemeClr val="bg1"/>
                          </a:solidFill>
                        </a:rPr>
                        <a:t>Palanca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2F7D5B"/>
                    </a:solidFill>
                  </a:tcPr>
                </a:tc>
                <a:tc>
                  <a:txBody>
                    <a:bodyPr/>
                    <a:lstStyle/>
                    <a:p>
                      <a:pPr indent="0" marL="0">
                        <a:buNone/>
                      </a:pPr>
                      <a:r>
                        <a:rPr lang="en-US" sz="1300" b="1" dirty="0">
                          <a:solidFill>
                            <a:schemeClr val="bg1"/>
                          </a:solidFill>
                        </a:rPr>
                        <a:t>Ejemplo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2F7D5B"/>
                    </a:solidFill>
                  </a:tcPr>
                </a:tc>
                <a:tc>
                  <a:txBody>
                    <a:bodyPr/>
                    <a:lstStyle/>
                    <a:p>
                      <a:pPr indent="0" marL="0">
                        <a:buNone/>
                      </a:pPr>
                      <a:r>
                        <a:rPr lang="en-US" sz="1300" b="1" dirty="0">
                          <a:solidFill>
                            <a:schemeClr val="bg1"/>
                          </a:solidFill>
                        </a:rPr>
                        <a:t>Cómo se hace con IaC</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2F7D5B"/>
                    </a:solidFill>
                  </a:tcPr>
                </a:tc>
              </a:tr>
              <a:tr h="457200">
                <a:tc>
                  <a:txBody>
                    <a:bodyPr/>
                    <a:lstStyle/>
                    <a:p>
                      <a:pPr indent="0" marL="0">
                        <a:buNone/>
                      </a:pPr>
                      <a:r>
                        <a:rPr lang="en-US" sz="1300" b="1" dirty="0">
                          <a:solidFill>
                            <a:schemeClr val="tx1"/>
                          </a:solidFill>
                        </a:rPr>
                        <a:t>Apagar lo que no se usa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Dev y QA apagados de noche; serverless con poco tráfico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latin typeface="JetBrains Mono" pitchFamily="34" charset="0"/>
                          <a:ea typeface="JetBrains Mono" pitchFamily="34" charset="-122"/>
                          <a:cs typeface="JetBrains Mono" pitchFamily="34" charset="-120"/>
                        </a:rPr>
                        <a:t>terraform destroy</a:t>
                      </a:r>
                      <a:pPr indent="0" marL="0">
                        <a:buNone/>
                      </a:pPr>
                      <a:r>
                        <a:rPr lang="en-US" sz="1300" dirty="0">
                          <a:solidFill>
                            <a:schemeClr val="tx1"/>
                          </a:solidFill>
                        </a:rPr>
                        <a:t>; EventBridge Scheduler</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Dimensionar bien</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Máquina al 5 % de CPU; Lambda con memoria de sobra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Cambiar </a:t>
                      </a:r>
                      <a:pPr indent="0" marL="0">
                        <a:buNone/>
                      </a:pPr>
                      <a:r>
                        <a:rPr lang="en-US" sz="1300" dirty="0">
                          <a:solidFill>
                            <a:schemeClr val="tx1"/>
                          </a:solidFill>
                          <a:latin typeface="JetBrains Mono" pitchFamily="34" charset="0"/>
                          <a:ea typeface="JetBrains Mono" pitchFamily="34" charset="-122"/>
                          <a:cs typeface="JetBrains Mono" pitchFamily="34" charset="-120"/>
                        </a:rPr>
                        <a:t>memoria_mb</a:t>
                      </a:r>
                      <a:pPr indent="0" marL="0">
                        <a:buNone/>
                      </a:pPr>
                      <a:r>
                        <a:rPr lang="en-US" sz="1300" dirty="0">
                          <a:solidFill>
                            <a:schemeClr val="tx1"/>
                          </a:solidFill>
                        </a:rPr>
                        <a:t> + </a:t>
                      </a:r>
                      <a:pPr indent="0" marL="0">
                        <a:buNone/>
                      </a:pPr>
                      <a:r>
                        <a:rPr lang="en-US" sz="1300" dirty="0">
                          <a:solidFill>
                            <a:schemeClr val="tx1"/>
                          </a:solidFill>
                          <a:latin typeface="JetBrains Mono" pitchFamily="34" charset="0"/>
                          <a:ea typeface="JetBrains Mono" pitchFamily="34" charset="-122"/>
                          <a:cs typeface="JetBrains Mono" pitchFamily="34" charset="-120"/>
                        </a:rPr>
                        <a:t>infracost diff</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Comprar mejor</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Savings Plans para lo estable; Spot para lo interrumpible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El código define qué carga es estable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Elegir el modelo de cobro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DynamoDB por solicitud vs capacidad reservada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Una variable: </a:t>
                      </a:r>
                      <a:pPr indent="0" marL="0">
                        <a:buNone/>
                      </a:pPr>
                      <a:r>
                        <a:rPr lang="en-US" sz="1300" dirty="0">
                          <a:solidFill>
                            <a:schemeClr val="tx1"/>
                          </a:solidFill>
                          <a:latin typeface="JetBrains Mono" pitchFamily="34" charset="0"/>
                          <a:ea typeface="JetBrains Mono" pitchFamily="34" charset="-122"/>
                          <a:cs typeface="JetBrains Mono" pitchFamily="34" charset="-120"/>
                        </a:rPr>
                        <a:t>dynamodb_billing_mode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Arquitectura eficiente</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Graviton (ARM); gp3 en vez de gp2</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Cambiar el tipo y revisar el plan</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Limpiar huérfanos</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IPs públicas, discos, snapshots y logs sin dueño</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Si todo nace de Terraform, </a:t>
                      </a:r>
                      <a:pPr indent="0" marL="0">
                        <a:buNone/>
                      </a:pPr>
                      <a:r>
                        <a:rPr lang="en-US" sz="1300" dirty="0">
                          <a:solidFill>
                            <a:schemeClr val="tx1"/>
                          </a:solidFill>
                          <a:latin typeface="JetBrains Mono" pitchFamily="34" charset="0"/>
                          <a:ea typeface="JetBrains Mono" pitchFamily="34" charset="-122"/>
                          <a:cs typeface="JetBrains Mono" pitchFamily="34" charset="-120"/>
                        </a:rPr>
                        <a:t>destroy</a:t>
                      </a:r>
                      <a:pPr indent="0" marL="0">
                        <a:buNone/>
                      </a:pPr>
                      <a:r>
                        <a:rPr lang="en-US" sz="1300" dirty="0">
                          <a:solidFill>
                            <a:schemeClr val="tx1"/>
                          </a:solidFill>
                        </a:rPr>
                        <a:t> lo borra</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Ciclo de vida de datos</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Retención de logs; TTL en tablas; clases de S3 baratas</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latin typeface="JetBrains Mono" pitchFamily="34" charset="0"/>
                          <a:ea typeface="JetBrains Mono" pitchFamily="34" charset="-122"/>
                          <a:cs typeface="JetBrains Mono" pitchFamily="34" charset="-120"/>
                        </a:rPr>
                        <a:t>retention_in_days</a:t>
                      </a:r>
                      <a:pPr indent="0" marL="0">
                        <a:buNone/>
                      </a:pPr>
                      <a:r>
                        <a:rPr lang="en-US" sz="1300" dirty="0">
                          <a:solidFill>
                            <a:schemeClr val="tx1"/>
                          </a:solidFill>
                        </a:rPr>
                        <a:t>, </a:t>
                      </a:r>
                      <a:pPr indent="0" marL="0">
                        <a:buNone/>
                      </a:pPr>
                      <a:r>
                        <a:rPr lang="en-US" sz="1300" dirty="0">
                          <a:solidFill>
                            <a:schemeClr val="tx1"/>
                          </a:solidFill>
                          <a:latin typeface="JetBrains Mono" pitchFamily="34" charset="0"/>
                          <a:ea typeface="JetBrains Mono" pitchFamily="34" charset="-122"/>
                          <a:cs typeface="JetBrains Mono" pitchFamily="34" charset="-120"/>
                        </a:rPr>
                        <a:t>ttl</a:t>
                      </a:r>
                      <a:pPr indent="0" marL="0">
                        <a:buNone/>
                      </a:pPr>
                      <a:r>
                        <a:rPr lang="en-US" sz="1300" dirty="0">
                          <a:solidFill>
                            <a:schemeClr val="tx1"/>
                          </a:solidFill>
                        </a:rPr>
                        <a:t>, lifecycle de S3</a:t>
                      </a:r>
                      <a:endParaRPr lang="en-US" sz="1300" dirty="0"/>
                    </a:p>
                  </a:txBody>
                  <a:tcPr marL="91440" marR="91440" marT="54864" marB="54864"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chemeClr val="accent6"/>
                    </a:solidFill>
                  </a:tcPr>
                </a:tc>
              </a:tr>
            </a:tbl>
          </a:graphicData>
        </a:graphic>
      </p:graphicFrame>
      <p:sp>
        <p:nvSpPr>
          <p:cNvPr id="5" name="Text 2"/>
          <p:cNvSpPr txBox="1"/>
          <p:nvPr/>
        </p:nvSpPr>
        <p:spPr>
          <a:xfrm>
            <a:off x="548640" y="5806440"/>
            <a:ext cx="11094415" cy="411480"/>
          </a:xfrm>
          <a:prstGeom prst="rect">
            <a:avLst/>
          </a:prstGeom>
          <a:noFill/>
          <a:ln/>
        </p:spPr>
        <p:txBody>
          <a:bodyPr wrap="square" lIns="0" tIns="0" rIns="0" bIns="0" rtlCol="0" anchor="t"/>
          <a:lstStyle/>
          <a:p>
            <a:pPr indent="0" marL="0">
              <a:buNone/>
            </a:pPr>
            <a:r>
              <a:rPr lang="en-US" sz="1700" b="1" dirty="0">
                <a:solidFill>
                  <a:schemeClr val="accent3"/>
                </a:solidFill>
              </a:rPr>
              <a:t>Lo que no está etiquetado no se puede asignar; lo que no se mide no se optimiza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JetBrains Mono"/>
                <a:ea typeface="JetBrains Mono"/>
                <a:cs typeface="JetBrains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320040"/>
          </a:xfrm>
          <a:prstGeom prst="rect">
            <a:avLst/>
          </a:prstGeom>
          <a:noFill/>
          <a:ln/>
        </p:spPr>
        <p:txBody>
          <a:bodyPr wrap="square" lIns="0" tIns="0" rIns="0" bIns="0" rtlCol="0" anchor="ctr"/>
          <a:lstStyle/>
          <a:p>
            <a:pPr indent="0" marL="0">
              <a:buNone/>
            </a:pPr>
            <a:r>
              <a:rPr lang="en-US" sz="1200" b="1" dirty="0">
                <a:solidFill>
                  <a:schemeClr val="accent4"/>
                </a:solidFill>
                <a:latin typeface="JetBrains Mono" pitchFamily="34" charset="0"/>
                <a:ea typeface="JetBrains Mono" pitchFamily="34" charset="-122"/>
                <a:cs typeface="JetBrains Mono" pitchFamily="34" charset="-120"/>
              </a:rPr>
              <a:t>CIERRE</a:t>
            </a:r>
            <a:endParaRPr lang="en-US" sz="1200" dirty="0"/>
          </a:p>
        </p:txBody>
      </p:sp>
      <p:sp>
        <p:nvSpPr>
          <p:cNvPr id="3" name="Text 1"/>
          <p:cNvSpPr/>
          <p:nvPr>
            <p:ph idx="102" type="title" hasCustomPrompt="1"/>
          </p:nvPr>
        </p:nvSpPr>
        <p:spPr>
          <a:xfrm>
            <a:off x="548640" y="777240"/>
            <a:ext cx="11094415" cy="868680"/>
          </a:xfrm>
          <a:prstGeom prst="rect">
            <a:avLst/>
          </a:prstGeom>
          <a:noFill/>
          <a:ln/>
        </p:spPr>
        <p:txBody>
          <a:bodyPr wrap="square" lIns="0" tIns="0" rIns="0" bIns="0" rtlCol="0" anchor="t"/>
          <a:lstStyle/>
          <a:p>
            <a:pPr algn="l" indent="0" marL="0">
              <a:buNone/>
            </a:pPr>
            <a:r>
              <a:rPr lang="en-US" sz="3000" b="1" dirty="0">
                <a:solidFill>
                  <a:schemeClr val="bg1"/>
                </a:solidFill>
              </a:rPr>
              <a:t>Lo que nos llevamos</a:t>
            </a:r>
            <a:endParaRPr lang="en-US" sz="3000" dirty="0"/>
          </a:p>
        </p:txBody>
      </p:sp>
      <p:sp>
        <p:nvSpPr>
          <p:cNvPr id="4" name="Text 2"/>
          <p:cNvSpPr txBox="1"/>
          <p:nvPr/>
        </p:nvSpPr>
        <p:spPr>
          <a:xfrm>
            <a:off x="548640" y="2103120"/>
            <a:ext cx="914400" cy="640080"/>
          </a:xfrm>
          <a:prstGeom prst="rect">
            <a:avLst/>
          </a:prstGeom>
          <a:noFill/>
          <a:ln/>
        </p:spPr>
        <p:txBody>
          <a:bodyPr wrap="square" lIns="0" tIns="0" rIns="0" bIns="0" rtlCol="0" anchor="t"/>
          <a:lstStyle/>
          <a:p>
            <a:pPr indent="0" marL="0">
              <a:buNone/>
            </a:pPr>
            <a:r>
              <a:rPr lang="en-US" sz="3600" b="1" dirty="0">
                <a:solidFill>
                  <a:schemeClr val="accent4"/>
                </a:solidFill>
                <a:latin typeface="JetBrains Mono" pitchFamily="34" charset="0"/>
                <a:ea typeface="JetBrains Mono" pitchFamily="34" charset="-122"/>
                <a:cs typeface="JetBrains Mono" pitchFamily="34" charset="-120"/>
              </a:rPr>
              <a:t>01</a:t>
            </a:r>
            <a:endParaRPr lang="en-US" sz="3600" dirty="0"/>
          </a:p>
        </p:txBody>
      </p:sp>
      <p:sp>
        <p:nvSpPr>
          <p:cNvPr id="5" name="Text 3"/>
          <p:cNvSpPr txBox="1"/>
          <p:nvPr/>
        </p:nvSpPr>
        <p:spPr>
          <a:xfrm>
            <a:off x="548640" y="2880360"/>
            <a:ext cx="3474720" cy="914400"/>
          </a:xfrm>
          <a:prstGeom prst="rect">
            <a:avLst/>
          </a:prstGeom>
          <a:noFill/>
          <a:ln/>
        </p:spPr>
        <p:txBody>
          <a:bodyPr wrap="square" lIns="0" tIns="0" rIns="0" bIns="0" rtlCol="0" anchor="t"/>
          <a:lstStyle/>
          <a:p>
            <a:pPr indent="0" marL="0">
              <a:buNone/>
            </a:pPr>
            <a:r>
              <a:rPr lang="en-US" sz="2200" b="1" dirty="0">
                <a:solidFill>
                  <a:schemeClr val="bg1"/>
                </a:solidFill>
              </a:rPr>
              <a:t>La infraestructura es código</a:t>
            </a:r>
            <a:endParaRPr lang="en-US" sz="2200" dirty="0"/>
          </a:p>
        </p:txBody>
      </p:sp>
      <p:sp>
        <p:nvSpPr>
          <p:cNvPr id="6" name="Text 4"/>
          <p:cNvSpPr txBox="1"/>
          <p:nvPr/>
        </p:nvSpPr>
        <p:spPr>
          <a:xfrm>
            <a:off x="548640" y="3840480"/>
            <a:ext cx="3474720" cy="914400"/>
          </a:xfrm>
          <a:prstGeom prst="rect">
            <a:avLst/>
          </a:prstGeom>
          <a:noFill/>
          <a:ln/>
        </p:spPr>
        <p:txBody>
          <a:bodyPr wrap="square" lIns="0" tIns="0" rIns="0" bIns="0" rtlCol="0" anchor="t"/>
          <a:lstStyle/>
          <a:p>
            <a:pPr indent="0" marL="0">
              <a:buNone/>
            </a:pPr>
            <a:r>
              <a:rPr lang="en-US" sz="1600" dirty="0">
                <a:solidFill>
                  <a:schemeClr val="accent5"/>
                </a:solidFill>
              </a:rPr>
              <a:t>Se revisa, se versiona y se destruye igual que la aplicación.</a:t>
            </a:r>
            <a:endParaRPr lang="en-US" sz="1600" dirty="0"/>
          </a:p>
        </p:txBody>
      </p:sp>
      <p:sp>
        <p:nvSpPr>
          <p:cNvPr id="7" name="Text 5"/>
          <p:cNvSpPr txBox="1"/>
          <p:nvPr/>
        </p:nvSpPr>
        <p:spPr>
          <a:xfrm>
            <a:off x="4297680" y="2103120"/>
            <a:ext cx="914400" cy="640080"/>
          </a:xfrm>
          <a:prstGeom prst="rect">
            <a:avLst/>
          </a:prstGeom>
          <a:noFill/>
          <a:ln/>
        </p:spPr>
        <p:txBody>
          <a:bodyPr wrap="square" lIns="0" tIns="0" rIns="0" bIns="0" rtlCol="0" anchor="t"/>
          <a:lstStyle/>
          <a:p>
            <a:pPr indent="0" marL="0">
              <a:buNone/>
            </a:pPr>
            <a:r>
              <a:rPr lang="en-US" sz="3600" b="1" dirty="0">
                <a:solidFill>
                  <a:schemeClr val="accent4"/>
                </a:solidFill>
                <a:latin typeface="JetBrains Mono" pitchFamily="34" charset="0"/>
                <a:ea typeface="JetBrains Mono" pitchFamily="34" charset="-122"/>
                <a:cs typeface="JetBrains Mono" pitchFamily="34" charset="-120"/>
              </a:rPr>
              <a:t>02</a:t>
            </a:r>
            <a:endParaRPr lang="en-US" sz="3600" dirty="0"/>
          </a:p>
        </p:txBody>
      </p:sp>
      <p:sp>
        <p:nvSpPr>
          <p:cNvPr id="8" name="Text 6"/>
          <p:cNvSpPr txBox="1"/>
          <p:nvPr/>
        </p:nvSpPr>
        <p:spPr>
          <a:xfrm>
            <a:off x="4297680" y="2880360"/>
            <a:ext cx="3474720" cy="914400"/>
          </a:xfrm>
          <a:prstGeom prst="rect">
            <a:avLst/>
          </a:prstGeom>
          <a:noFill/>
          <a:ln/>
        </p:spPr>
        <p:txBody>
          <a:bodyPr wrap="square" lIns="0" tIns="0" rIns="0" bIns="0" rtlCol="0" anchor="t"/>
          <a:lstStyle/>
          <a:p>
            <a:pPr indent="0" marL="0">
              <a:buNone/>
            </a:pPr>
            <a:r>
              <a:rPr lang="en-US" sz="2200" b="1" dirty="0">
                <a:solidFill>
                  <a:schemeClr val="bg1"/>
                </a:solidFill>
              </a:rPr>
              <a:t>El state es el activo más delicado</a:t>
            </a:r>
            <a:endParaRPr lang="en-US" sz="2200" dirty="0"/>
          </a:p>
        </p:txBody>
      </p:sp>
      <p:sp>
        <p:nvSpPr>
          <p:cNvPr id="9" name="Text 7"/>
          <p:cNvSpPr txBox="1"/>
          <p:nvPr/>
        </p:nvSpPr>
        <p:spPr>
          <a:xfrm>
            <a:off x="4297680" y="3840480"/>
            <a:ext cx="3474720" cy="914400"/>
          </a:xfrm>
          <a:prstGeom prst="rect">
            <a:avLst/>
          </a:prstGeom>
          <a:noFill/>
          <a:ln/>
        </p:spPr>
        <p:txBody>
          <a:bodyPr wrap="square" lIns="0" tIns="0" rIns="0" bIns="0" rtlCol="0" anchor="t"/>
          <a:lstStyle/>
          <a:p>
            <a:pPr indent="0" marL="0">
              <a:buNone/>
            </a:pPr>
            <a:r>
              <a:rPr lang="en-US" sz="1600" dirty="0">
                <a:solidFill>
                  <a:schemeClr val="accent5"/>
                </a:solidFill>
              </a:rPr>
              <a:t>Remoto, bloqueado y tratado como una credencial.</a:t>
            </a:r>
            <a:endParaRPr lang="en-US" sz="1600" dirty="0"/>
          </a:p>
        </p:txBody>
      </p:sp>
      <p:sp>
        <p:nvSpPr>
          <p:cNvPr id="10" name="Text 8"/>
          <p:cNvSpPr txBox="1"/>
          <p:nvPr/>
        </p:nvSpPr>
        <p:spPr>
          <a:xfrm>
            <a:off x="8046720" y="2103120"/>
            <a:ext cx="914400" cy="640080"/>
          </a:xfrm>
          <a:prstGeom prst="rect">
            <a:avLst/>
          </a:prstGeom>
          <a:noFill/>
          <a:ln/>
        </p:spPr>
        <p:txBody>
          <a:bodyPr wrap="square" lIns="0" tIns="0" rIns="0" bIns="0" rtlCol="0" anchor="t"/>
          <a:lstStyle/>
          <a:p>
            <a:pPr indent="0" marL="0">
              <a:buNone/>
            </a:pPr>
            <a:r>
              <a:rPr lang="en-US" sz="3600" b="1" dirty="0">
                <a:solidFill>
                  <a:schemeClr val="accent4"/>
                </a:solidFill>
                <a:latin typeface="JetBrains Mono" pitchFamily="34" charset="0"/>
                <a:ea typeface="JetBrains Mono" pitchFamily="34" charset="-122"/>
                <a:cs typeface="JetBrains Mono" pitchFamily="34" charset="-120"/>
              </a:rPr>
              <a:t>03</a:t>
            </a:r>
            <a:endParaRPr lang="en-US" sz="3600" dirty="0"/>
          </a:p>
        </p:txBody>
      </p:sp>
      <p:sp>
        <p:nvSpPr>
          <p:cNvPr id="11" name="Text 9"/>
          <p:cNvSpPr txBox="1"/>
          <p:nvPr/>
        </p:nvSpPr>
        <p:spPr>
          <a:xfrm>
            <a:off x="8046720" y="2880360"/>
            <a:ext cx="3474720" cy="914400"/>
          </a:xfrm>
          <a:prstGeom prst="rect">
            <a:avLst/>
          </a:prstGeom>
          <a:noFill/>
          <a:ln/>
        </p:spPr>
        <p:txBody>
          <a:bodyPr wrap="square" lIns="0" tIns="0" rIns="0" bIns="0" rtlCol="0" anchor="t"/>
          <a:lstStyle/>
          <a:p>
            <a:pPr indent="0" marL="0">
              <a:buNone/>
            </a:pPr>
            <a:r>
              <a:rPr lang="en-US" sz="2200" b="1" dirty="0">
                <a:solidFill>
                  <a:schemeClr val="bg1"/>
                </a:solidFill>
              </a:rPr>
              <a:t>El costo se conoce antes del apply</a:t>
            </a:r>
            <a:endParaRPr lang="en-US" sz="2200" dirty="0"/>
          </a:p>
        </p:txBody>
      </p:sp>
      <p:sp>
        <p:nvSpPr>
          <p:cNvPr id="12" name="Text 10"/>
          <p:cNvSpPr txBox="1"/>
          <p:nvPr/>
        </p:nvSpPr>
        <p:spPr>
          <a:xfrm>
            <a:off x="8046720" y="3840480"/>
            <a:ext cx="3474720" cy="914400"/>
          </a:xfrm>
          <a:prstGeom prst="rect">
            <a:avLst/>
          </a:prstGeom>
          <a:noFill/>
          <a:ln/>
        </p:spPr>
        <p:txBody>
          <a:bodyPr wrap="square" lIns="0" tIns="0" rIns="0" bIns="0" rtlCol="0" anchor="t"/>
          <a:lstStyle/>
          <a:p>
            <a:pPr indent="0" marL="0">
              <a:buNone/>
            </a:pPr>
            <a:r>
              <a:rPr lang="en-US" sz="1600" dirty="0">
                <a:solidFill>
                  <a:schemeClr val="accent5"/>
                </a:solidFill>
              </a:rPr>
              <a:t>No en la factura del mes siguiente.</a:t>
            </a:r>
            <a:endParaRPr lang="en-US" sz="1600" dirty="0"/>
          </a:p>
        </p:txBody>
      </p:sp>
      <p:sp>
        <p:nvSpPr>
          <p:cNvPr id="13" name="Text 11"/>
          <p:cNvSpPr txBox="1"/>
          <p:nvPr/>
        </p:nvSpPr>
        <p:spPr>
          <a:xfrm>
            <a:off x="548640" y="5394960"/>
            <a:ext cx="5486400" cy="457200"/>
          </a:xfrm>
          <a:prstGeom prst="rect">
            <a:avLst/>
          </a:prstGeom>
          <a:noFill/>
          <a:ln/>
        </p:spPr>
        <p:txBody>
          <a:bodyPr wrap="square" lIns="0" tIns="0" rIns="0" bIns="0" rtlCol="0" anchor="t"/>
          <a:lstStyle/>
          <a:p>
            <a:pPr indent="0" marL="0">
              <a:buNone/>
            </a:pPr>
            <a:r>
              <a:rPr lang="en-US" sz="1600" b="1" dirty="0">
                <a:solidFill>
                  <a:schemeClr val="accent4"/>
                </a:solidFill>
                <a:latin typeface="JetBrains Mono" pitchFamily="34" charset="0"/>
                <a:ea typeface="JetBrains Mono" pitchFamily="34" charset="-122"/>
                <a:cs typeface="JetBrains Mono" pitchFamily="34" charset="-120"/>
              </a:rPr>
              <a:t>Siguiente: Lab 3</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JetBrains Mono"/>
                <a:ea typeface="JetBrains Mono"/>
                <a:cs typeface="JetBrains Mono"/>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PUCP Lab IaC">
  <a:themeElements>
    <a:clrScheme name="PUCP Lab IaC">
      <a:dk1>
        <a:srgbClr val="14213D"/>
      </a:dk1>
      <a:lt1>
        <a:srgbClr val="F7F6F2"/>
      </a:lt1>
      <a:dk2>
        <a:srgbClr val="4A5568"/>
      </a:dk2>
      <a:lt2>
        <a:srgbClr val="ECEAE3"/>
      </a:lt2>
      <a:accent1>
        <a:srgbClr val="B34A12"/>
      </a:accent1>
      <a:accent2>
        <a:srgbClr val="2D6CDF"/>
      </a:accent2>
      <a:accent3>
        <a:srgbClr val="2F7D5B"/>
      </a:accent3>
      <a:accent4>
        <a:srgbClr val="F2A65A"/>
      </a:accent4>
      <a:accent5>
        <a:srgbClr val="C9D2E3"/>
      </a:accent5>
      <a:accent6>
        <a:srgbClr val="FFFFFF"/>
      </a:accent6>
      <a:hlink>
        <a:srgbClr val="2D6CDF"/>
      </a:hlink>
      <a:folHlink>
        <a:srgbClr val="4A5568"/>
      </a:folHlink>
    </a:clrScheme>
    <a:fontScheme name="PUCP Lab IaC">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Infraestructura como Código con Terraform</dc:title>
  <dc:subject>PptxGenJS Presentation</dc:subject>
  <dc:creator>PUCP · Laboratorio 2</dc:creator>
  <cp:lastModifiedBy>PUCP · Laboratorio 2</cp:lastModifiedBy>
  <cp:revision>1</cp:revision>
  <dcterms:created xsi:type="dcterms:W3CDTF">2026-10-27T22:22:58Z</dcterms:created>
  <dcterms:modified xsi:type="dcterms:W3CDTF">2026-10-27T22:22:58Z</dcterms:modified>
</cp:coreProperties>
</file>